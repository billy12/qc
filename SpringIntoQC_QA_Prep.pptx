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88952" cy="7315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03520"/>
            <a:ext cx="12188952" cy="15544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0080"/>
            <a:ext cx="11247120" cy="914400"/>
          </a:xfrm>
          <a:prstGeom prst="rect">
            <a:avLst/>
          </a:prstGeom>
          <a:noFill/>
        </p:spPr>
        <p:txBody>
          <a:bodyPr wrap="square">
            <a:spAutoFit/>
          </a:bodyPr>
          <a:lstStyle/>
          <a:p>
            <a:pPr algn="ctr"/>
            <a:r>
              <a:rPr sz="5000" b="1" i="0">
                <a:solidFill>
                  <a:srgbClr val="FFFFFF"/>
                </a:solidFill>
              </a:rPr>
              <a:t>Q&amp;A PREP</a:t>
            </a:r>
          </a:p>
        </p:txBody>
      </p:sp>
      <p:sp>
        <p:nvSpPr>
          <p:cNvPr id="6" name="TextBox 5"/>
          <p:cNvSpPr txBox="1"/>
          <p:nvPr/>
        </p:nvSpPr>
        <p:spPr>
          <a:xfrm>
            <a:off x="457200" y="1691640"/>
            <a:ext cx="11247120" cy="640080"/>
          </a:xfrm>
          <a:prstGeom prst="rect">
            <a:avLst/>
          </a:prstGeom>
          <a:noFill/>
        </p:spPr>
        <p:txBody>
          <a:bodyPr wrap="square">
            <a:spAutoFit/>
          </a:bodyPr>
          <a:lstStyle/>
          <a:p>
            <a:pPr algn="ctr"/>
            <a:r>
              <a:rPr sz="2000" b="0" i="1">
                <a:solidFill>
                  <a:srgbClr val="D4A017"/>
                </a:solidFill>
              </a:rPr>
              <a:t>Anticipated Challenges &amp; How to Answer Them</a:t>
            </a:r>
          </a:p>
        </p:txBody>
      </p:sp>
      <p:sp>
        <p:nvSpPr>
          <p:cNvPr id="7" name="TextBox 6"/>
          <p:cNvSpPr txBox="1"/>
          <p:nvPr/>
        </p:nvSpPr>
        <p:spPr>
          <a:xfrm>
            <a:off x="457200" y="3154680"/>
            <a:ext cx="11247120" cy="502920"/>
          </a:xfrm>
          <a:prstGeom prst="rect">
            <a:avLst/>
          </a:prstGeom>
          <a:noFill/>
        </p:spPr>
        <p:txBody>
          <a:bodyPr wrap="square">
            <a:spAutoFit/>
          </a:bodyPr>
          <a:lstStyle/>
          <a:p>
            <a:pPr algn="ctr"/>
            <a:r>
              <a:rPr sz="1400" b="0" i="0">
                <a:solidFill>
                  <a:srgbClr val="F4F4F4"/>
                </a:solidFill>
              </a:rPr>
              <a:t>Spring Into QC  |  Executive Recommendation Presentation</a:t>
            </a:r>
          </a:p>
        </p:txBody>
      </p:sp>
      <p:sp>
        <p:nvSpPr>
          <p:cNvPr id="8" name="TextBox 7"/>
          <p:cNvSpPr txBox="1"/>
          <p:nvPr/>
        </p:nvSpPr>
        <p:spPr>
          <a:xfrm>
            <a:off x="457200" y="5577840"/>
            <a:ext cx="11247120" cy="457200"/>
          </a:xfrm>
          <a:prstGeom prst="rect">
            <a:avLst/>
          </a:prstGeom>
          <a:noFill/>
        </p:spPr>
        <p:txBody>
          <a:bodyPr wrap="square">
            <a:spAutoFit/>
          </a:bodyPr>
          <a:lstStyle/>
          <a:p>
            <a:pPr algn="ctr"/>
            <a:r>
              <a:rPr sz="1300" b="0" i="0">
                <a:solidFill>
                  <a:srgbClr val="555555"/>
                </a:solidFill>
              </a:rPr>
              <a:t>7 Challenges  •  Know Your Hardest One  •  Practice Out 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01</a:t>
            </a:r>
          </a:p>
        </p:txBody>
      </p:sp>
      <p:sp>
        <p:nvSpPr>
          <p:cNvPr id="6" name="Rectangle 5"/>
          <p:cNvSpPr/>
          <p:nvPr/>
        </p:nvSpPr>
        <p:spPr>
          <a:xfrm>
            <a:off x="1097280" y="256032"/>
            <a:ext cx="1371600" cy="384048"/>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EASY</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"The raffle tickets already exist — why hasn't that solved the problem on its own?"</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Makes it sound like you're not proposing anything new.</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The mechanic exists but the incentive loop is incomplete.</a:t>
            </a:r>
          </a:p>
          <a:p>
            <a:pPr>
              <a:spcAft>
                <a:spcPts val="600"/>
              </a:spcAft>
            </a:pPr>
            <a:r>
              <a:rPr sz="1300" b="0">
                <a:solidFill>
                  <a:srgbClr val="2B2B2B"/>
                </a:solidFill>
              </a:rPr>
              <a:t/>
            </a:r>
          </a:p>
          <a:p>
            <a:pPr>
              <a:spcAft>
                <a:spcPts val="600"/>
              </a:spcAft>
            </a:pPr>
            <a:r>
              <a:rPr sz="1300" b="0">
                <a:solidFill>
                  <a:srgbClr val="2B2B2B"/>
                </a:solidFill>
              </a:rPr>
              <a:t>Raffle tickets without a publicized, scheduled prize drawing are just paper. Right now there's no announced moment that gives those tickets meaning or urgency.</a:t>
            </a:r>
          </a:p>
          <a:p>
            <a:pPr>
              <a:spcAft>
                <a:spcPts val="600"/>
              </a:spcAft>
            </a:pPr>
            <a:r>
              <a:rPr sz="1300" b="0">
                <a:solidFill>
                  <a:srgbClr val="2B2B2B"/>
                </a:solidFill>
              </a:rPr>
              <a:t/>
            </a:r>
          </a:p>
          <a:p>
            <a:pPr>
              <a:spcAft>
                <a:spcPts val="600"/>
              </a:spcAft>
            </a:pPr>
            <a:r>
              <a:rPr sz="1300" b="0">
                <a:solidFill>
                  <a:srgbClr val="2B2B2B"/>
                </a:solidFill>
              </a:rPr>
              <a:t>We're not adding a new program — we're completing the loop that's already been started. That's actually an efficient use of existing infrastructure.</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"We're not building something new — we're activating what's already there."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02</a:t>
            </a:r>
          </a:p>
        </p:txBody>
      </p:sp>
      <p:sp>
        <p:nvSpPr>
          <p:cNvPr id="6" name="Rectangle 5"/>
          <p:cNvSpPr/>
          <p:nvPr/>
        </p:nvSpPr>
        <p:spPr>
          <a:xfrm>
            <a:off x="1097280" y="256032"/>
            <a:ext cx="1371600" cy="384048"/>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EASY</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"How do you know families are actually leaving early? Where's the data?"</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You have no attendance numbers, exit counts, or dwell time data to cite.</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Be direct: acknowledge the data gap immediately.</a:t>
            </a:r>
          </a:p>
          <a:p>
            <a:pPr>
              <a:spcAft>
                <a:spcPts val="600"/>
              </a:spcAft>
            </a:pPr>
            <a:r>
              <a:rPr sz="1300" b="0">
                <a:solidFill>
                  <a:srgbClr val="2B2B2B"/>
                </a:solidFill>
              </a:rPr>
              <a:t/>
            </a:r>
          </a:p>
          <a:p>
            <a:pPr>
              <a:spcAft>
                <a:spcPts val="600"/>
              </a:spcAft>
            </a:pPr>
            <a:r>
              <a:rPr sz="1300" b="0">
                <a:solidFill>
                  <a:srgbClr val="2B2B2B"/>
                </a:solidFill>
              </a:rPr>
              <a:t>"This recommendation is based on the problem statement provided by the Town, and I've flagged all assumptions as such. That said, part of what I'm recommending is establishing the measurement baseline we don't have yet."</a:t>
            </a:r>
          </a:p>
          <a:p>
            <a:pPr>
              <a:spcAft>
                <a:spcPts val="600"/>
              </a:spcAft>
            </a:pPr>
            <a:r>
              <a:rPr sz="1300" b="0">
                <a:solidFill>
                  <a:srgbClr val="2B2B2B"/>
                </a:solidFill>
              </a:rPr>
              <a:t/>
            </a:r>
          </a:p>
          <a:p>
            <a:pPr>
              <a:spcAft>
                <a:spcPts val="600"/>
              </a:spcAft>
            </a:pPr>
            <a:r>
              <a:rPr sz="1300" b="0">
                <a:solidFill>
                  <a:srgbClr val="2B2B2B"/>
                </a:solidFill>
              </a:rPr>
              <a:t>Propose: raffle ticket submission rate, vendor feedback surveys, and basic entry/exit counts as Year 1 metrics.</a:t>
            </a:r>
          </a:p>
          <a:p>
            <a:pPr>
              <a:spcAft>
                <a:spcPts val="600"/>
              </a:spcAft>
            </a:pPr>
            <a:r>
              <a:rPr sz="1300" b="0">
                <a:solidFill>
                  <a:srgbClr val="2B2B2B"/>
                </a:solidFill>
              </a:rPr>
              <a:t/>
            </a:r>
          </a:p>
          <a:p>
            <a:pPr>
              <a:spcAft>
                <a:spcPts val="600"/>
              </a:spcAft>
            </a:pPr>
            <a:r>
              <a:rPr sz="1300" b="0">
                <a:solidFill>
                  <a:srgbClr val="2B2B2B"/>
                </a:solidFill>
              </a:rPr>
              <a:t>Turning the data gap into a measurement plan makes you look sharp, not underprepared.</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"We don't have the baseline yet — so let's build it. Here's how."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03</a:t>
            </a:r>
          </a:p>
        </p:txBody>
      </p:sp>
      <p:sp>
        <p:nvSpPr>
          <p:cNvPr id="6" name="Rectangle 5"/>
          <p:cNvSpPr/>
          <p:nvPr/>
        </p:nvSpPr>
        <p:spPr>
          <a:xfrm>
            <a:off x="1097280" y="256032"/>
            <a:ext cx="1371600" cy="384048"/>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EASY</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"What does the prize actually cost, and where does that money come from?"</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Budget questions in front of elected officials require a concrete answer.</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The prize is sourced from local business sponsorships — not the Town's budget.</a:t>
            </a:r>
          </a:p>
          <a:p>
            <a:pPr>
              <a:spcAft>
                <a:spcPts val="600"/>
              </a:spcAft>
            </a:pPr>
            <a:r>
              <a:rPr sz="1300" b="0">
                <a:solidFill>
                  <a:srgbClr val="2B2B2B"/>
                </a:solidFill>
              </a:rPr>
              <a:t/>
            </a:r>
          </a:p>
          <a:p>
            <a:pPr>
              <a:spcAft>
                <a:spcPts val="600"/>
              </a:spcAft>
            </a:pPr>
            <a:r>
              <a:rPr sz="1300" b="0">
                <a:solidFill>
                  <a:srgbClr val="2B2B2B"/>
                </a:solidFill>
              </a:rPr>
              <a:t>Queen Creek's median household income is $142K. Families at this event respond to experiential prizes: rec center memberships, local dining packages, activity vouchers.</a:t>
            </a:r>
          </a:p>
          <a:p>
            <a:pPr>
              <a:spcAft>
                <a:spcPts val="600"/>
              </a:spcAft>
            </a:pPr>
            <a:r>
              <a:rPr sz="1300" b="0">
                <a:solidFill>
                  <a:srgbClr val="2B2B2B"/>
                </a:solidFill>
              </a:rPr>
              <a:t/>
            </a:r>
          </a:p>
          <a:p>
            <a:pPr>
              <a:spcAft>
                <a:spcPts val="600"/>
              </a:spcAft>
            </a:pPr>
            <a:r>
              <a:rPr sz="1300" b="0">
                <a:solidFill>
                  <a:srgbClr val="2B2B2B"/>
                </a:solidFill>
              </a:rPr>
              <a:t>These are easy asks for local businesses because they get branding on the raffle announcement, signage, and emcee mentions in exchange.</a:t>
            </a:r>
          </a:p>
          <a:p>
            <a:pPr>
              <a:spcAft>
                <a:spcPts val="600"/>
              </a:spcAft>
            </a:pPr>
            <a:r>
              <a:rPr sz="1300" b="0">
                <a:solidFill>
                  <a:srgbClr val="2B2B2B"/>
                </a:solidFill>
              </a:rPr>
              <a:t/>
            </a:r>
          </a:p>
          <a:p>
            <a:pPr>
              <a:spcAft>
                <a:spcPts val="600"/>
              </a:spcAft>
            </a:pPr>
            <a:r>
              <a:rPr sz="1300" b="0">
                <a:solidFill>
                  <a:srgbClr val="2B2B2B"/>
                </a:solidFill>
              </a:rPr>
              <a:t>Net Town cost for the prize: $0. Total enhancement cost: $150–$720 (signage only).</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"Sponsor-funded prize. Zero cost to the Town. Mutual win for a local business."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04</a:t>
            </a:r>
          </a:p>
        </p:txBody>
      </p:sp>
      <p:sp>
        <p:nvSpPr>
          <p:cNvPr id="6" name="Rectangle 5"/>
          <p:cNvSpPr/>
          <p:nvPr/>
        </p:nvSpPr>
        <p:spPr>
          <a:xfrm>
            <a:off x="1097280" y="256032"/>
            <a:ext cx="1371600" cy="384048"/>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EASY</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"Post-hunt handoff staff — isn't that an added labor cost?"</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Staffing costs are scrutinized. Sounds like you're adding headcount.</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It's a redeployment — not a new hire.</a:t>
            </a:r>
          </a:p>
          <a:p>
            <a:pPr>
              <a:spcAft>
                <a:spcPts val="600"/>
              </a:spcAft>
            </a:pPr>
            <a:r>
              <a:rPr sz="1300" b="0">
                <a:solidFill>
                  <a:srgbClr val="2B2B2B"/>
                </a:solidFill>
              </a:rPr>
              <a:t/>
            </a:r>
          </a:p>
          <a:p>
            <a:pPr>
              <a:spcAft>
                <a:spcPts val="600"/>
              </a:spcAft>
            </a:pPr>
            <a:r>
              <a:rPr sz="1300" b="0">
                <a:solidFill>
                  <a:srgbClr val="2B2B2B"/>
                </a:solidFill>
              </a:rPr>
              <a:t>Each age-group egg hunt requires staff while it's running. The moment that hunt concludes, those staff have no hunt to manage. We redirect them to the hunt exit for 15 minutes as a handoff ambassador.</a:t>
            </a:r>
          </a:p>
          <a:p>
            <a:pPr>
              <a:spcAft>
                <a:spcPts val="600"/>
              </a:spcAft>
            </a:pPr>
            <a:r>
              <a:rPr sz="1300" b="0">
                <a:solidFill>
                  <a:srgbClr val="2B2B2B"/>
                </a:solidFill>
              </a:rPr>
              <a:t/>
            </a:r>
          </a:p>
          <a:p>
            <a:pPr>
              <a:spcAft>
                <a:spcPts val="600"/>
              </a:spcAft>
            </a:pPr>
            <a:r>
              <a:rPr sz="1300" b="0">
                <a:solidFill>
                  <a:srgbClr val="2B2B2B"/>
                </a:solidFill>
              </a:rPr>
              <a:t>No additional hours. No overtime. No new positions.</a:t>
            </a:r>
          </a:p>
          <a:p>
            <a:pPr>
              <a:spcAft>
                <a:spcPts val="600"/>
              </a:spcAft>
            </a:pPr>
            <a:r>
              <a:rPr sz="1300" b="0">
                <a:solidFill>
                  <a:srgbClr val="2B2B2B"/>
                </a:solidFill>
              </a:rPr>
              <a:t/>
            </a:r>
          </a:p>
          <a:p>
            <a:pPr>
              <a:spcAft>
                <a:spcPts val="600"/>
              </a:spcAft>
            </a:pPr>
            <a:r>
              <a:rPr sz="1300" b="0">
                <a:solidFill>
                  <a:srgbClr val="2B2B2B"/>
                </a:solidFill>
              </a:rPr>
              <a:t>We're using the natural rhythm of the event to our advantage — staff transition from hunt management to retention management at exactly the right moment.</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"Same staff, smarter deployment. No new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05</a:t>
            </a:r>
          </a:p>
        </p:txBody>
      </p:sp>
      <p:sp>
        <p:nvSpPr>
          <p:cNvPr id="6" name="Rectangle 5"/>
          <p:cNvSpPr/>
          <p:nvPr/>
        </p:nvSpPr>
        <p:spPr>
          <a:xfrm>
            <a:off x="1097280" y="256032"/>
            <a:ext cx="137160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MODERATE</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"Kids are wound up after the egg hunt — parents want to get home before the meltdown. You can't fight that."</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This is behavioral and real. A panelist with kids will know this is true.</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Acknowledge it — then flip it.</a:t>
            </a:r>
          </a:p>
          <a:p>
            <a:pPr>
              <a:spcAft>
                <a:spcPts val="600"/>
              </a:spcAft>
            </a:pPr>
            <a:r>
              <a:rPr sz="1300" b="0">
                <a:solidFill>
                  <a:srgbClr val="2B2B2B"/>
                </a:solidFill>
              </a:rPr>
              <a:t/>
            </a:r>
          </a:p>
          <a:p>
            <a:pPr>
              <a:spcAft>
                <a:spcPts val="600"/>
              </a:spcAft>
            </a:pPr>
            <a:r>
              <a:rPr sz="1300" b="0">
                <a:solidFill>
                  <a:srgbClr val="2B2B2B"/>
                </a:solidFill>
              </a:rPr>
              <a:t>"You're right that post-hunt energy can go either way. That's exactly why the timing of the handoff matters so much."</a:t>
            </a:r>
          </a:p>
          <a:p>
            <a:pPr>
              <a:spcAft>
                <a:spcPts val="600"/>
              </a:spcAft>
            </a:pPr>
            <a:r>
              <a:rPr sz="1300" b="0">
                <a:solidFill>
                  <a:srgbClr val="2B2B2B"/>
                </a:solidFill>
              </a:rPr>
              <a:t/>
            </a:r>
          </a:p>
          <a:p>
            <a:pPr>
              <a:spcAft>
                <a:spcPts val="600"/>
              </a:spcAft>
            </a:pPr>
            <a:r>
              <a:rPr sz="1300" b="0">
                <a:solidFill>
                  <a:srgbClr val="2B2B2B"/>
                </a:solidFill>
              </a:rPr>
              <a:t>The first animal race heat starts at 10 AM. A child finishing the 9:30 hunt walks out and goes straight into animals racing — a new, high-energy stimulus.</a:t>
            </a:r>
          </a:p>
          <a:p>
            <a:pPr>
              <a:spcAft>
                <a:spcPts val="600"/>
              </a:spcAft>
            </a:pPr>
            <a:r>
              <a:rPr sz="1300" b="0">
                <a:solidFill>
                  <a:srgbClr val="2B2B2B"/>
                </a:solidFill>
              </a:rPr>
              <a:t/>
            </a:r>
          </a:p>
          <a:p>
            <a:pPr>
              <a:spcAft>
                <a:spcPts val="600"/>
              </a:spcAft>
            </a:pPr>
            <a:r>
              <a:rPr sz="1300" b="0">
                <a:solidFill>
                  <a:srgbClr val="2B2B2B"/>
                </a:solidFill>
              </a:rPr>
              <a:t>We're not asking families to wait around or browse passively. We're putting the next exciting thing immediately in front of them before the crash happens.</a:t>
            </a:r>
          </a:p>
          <a:p>
            <a:pPr>
              <a:spcAft>
                <a:spcPts val="600"/>
              </a:spcAft>
            </a:pPr>
            <a:r>
              <a:rPr sz="1300" b="0">
                <a:solidFill>
                  <a:srgbClr val="2B2B2B"/>
                </a:solidFill>
              </a:rPr>
              <a:t/>
            </a:r>
          </a:p>
          <a:p>
            <a:pPr>
              <a:spcAft>
                <a:spcPts val="600"/>
              </a:spcAft>
            </a:pPr>
            <a:r>
              <a:rPr sz="1300" b="0">
                <a:solidFill>
                  <a:srgbClr val="2B2B2B"/>
                </a:solidFill>
              </a:rPr>
              <a:t>The 30 seconds after the hunt is the window. The handoff exists to own that window.</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"We're not fighting the energy — we're redirecting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06</a:t>
            </a:r>
          </a:p>
        </p:txBody>
      </p:sp>
      <p:sp>
        <p:nvSpPr>
          <p:cNvPr id="6" name="Rectangle 5"/>
          <p:cNvSpPr/>
          <p:nvPr/>
        </p:nvSpPr>
        <p:spPr>
          <a:xfrm>
            <a:off x="1097280" y="256032"/>
            <a:ext cx="1371600" cy="384048"/>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HARD</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"This feels incremental. Is pointing at signs and redirecting staff really a meaningful enhancement?"</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This is your hardest question. Don't get defensive. Don't apologize for simplicity.</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Don't flinch. Answer with conviction.</a:t>
            </a:r>
          </a:p>
          <a:p>
            <a:pPr>
              <a:spcAft>
                <a:spcPts val="600"/>
              </a:spcAft>
            </a:pPr>
            <a:r>
              <a:rPr sz="1300" b="0">
                <a:solidFill>
                  <a:srgbClr val="2B2B2B"/>
                </a:solidFill>
              </a:rPr>
              <a:t/>
            </a:r>
          </a:p>
          <a:p>
            <a:pPr>
              <a:spcAft>
                <a:spcPts val="600"/>
              </a:spcAft>
            </a:pPr>
            <a:r>
              <a:rPr sz="1300" b="0">
                <a:solidFill>
                  <a:srgbClr val="2B2B2B"/>
                </a:solidFill>
              </a:rPr>
              <a:t>"The most operationally sound enhancements often look simple in isolation. What we're describing isn't a small tweak — it's a fundamental shift in how families experience the event arc."</a:t>
            </a:r>
          </a:p>
          <a:p>
            <a:pPr>
              <a:spcAft>
                <a:spcPts val="600"/>
              </a:spcAft>
            </a:pPr>
            <a:r>
              <a:rPr sz="1300" b="0">
                <a:solidFill>
                  <a:srgbClr val="2B2B2B"/>
                </a:solidFill>
              </a:rPr>
              <a:t/>
            </a:r>
          </a:p>
          <a:p>
            <a:pPr>
              <a:spcAft>
                <a:spcPts val="600"/>
              </a:spcAft>
            </a:pPr>
            <a:r>
              <a:rPr sz="1300" b="0">
                <a:solidFill>
                  <a:srgbClr val="2B2B2B"/>
                </a:solidFill>
              </a:rPr>
              <a:t>Right now: families arrive, complete their goal, and leave. Their experience is a single chapter.</a:t>
            </a:r>
          </a:p>
          <a:p>
            <a:pPr>
              <a:spcAft>
                <a:spcPts val="600"/>
              </a:spcAft>
            </a:pPr>
            <a:r>
              <a:rPr sz="1300" b="0">
                <a:solidFill>
                  <a:srgbClr val="2B2B2B"/>
                </a:solidFill>
              </a:rPr>
              <a:t/>
            </a:r>
          </a:p>
          <a:p>
            <a:pPr>
              <a:spcAft>
                <a:spcPts val="600"/>
              </a:spcAft>
            </a:pPr>
            <a:r>
              <a:rPr sz="1300" b="0">
                <a:solidFill>
                  <a:srgbClr val="2B2B2B"/>
                </a:solidFill>
              </a:rPr>
              <a:t>After this: families arrive, complete their hunt, get redirected, watch races, hold raffle tickets, and stay for the drawing. Their experience has a beginning, middle, and end.</a:t>
            </a:r>
          </a:p>
          <a:p>
            <a:pPr>
              <a:spcAft>
                <a:spcPts val="600"/>
              </a:spcAft>
            </a:pPr>
            <a:r>
              <a:rPr sz="1300" b="0">
                <a:solidFill>
                  <a:srgbClr val="2B2B2B"/>
                </a:solidFill>
              </a:rPr>
              <a:t/>
            </a:r>
          </a:p>
          <a:p>
            <a:pPr>
              <a:spcAft>
                <a:spcPts val="600"/>
              </a:spcAft>
            </a:pPr>
            <a:r>
              <a:rPr sz="1300" b="0">
                <a:solidFill>
                  <a:srgbClr val="2B2B2B"/>
                </a:solidFill>
              </a:rPr>
              <a:t>"Low cost and high impact aren't opposites. Sometimes the best recommendation is closing the gap between what you're already offering and what people are actually experiencing."</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"We're not adding complexity — we're removing friction. That's the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91440"/>
            <a:ext cx="777240" cy="804672"/>
          </a:xfrm>
          <a:prstGeom prst="rect">
            <a:avLst/>
          </a:prstGeom>
          <a:noFill/>
        </p:spPr>
        <p:txBody>
          <a:bodyPr wrap="square">
            <a:spAutoFit/>
          </a:bodyPr>
          <a:lstStyle/>
          <a:p>
            <a:pPr algn="ctr"/>
            <a:r>
              <a:rPr sz="3600" b="1" i="0">
                <a:solidFill>
                  <a:srgbClr val="D4A017"/>
                </a:solidFill>
              </a:rPr>
              <a:t>07</a:t>
            </a:r>
          </a:p>
        </p:txBody>
      </p:sp>
      <p:sp>
        <p:nvSpPr>
          <p:cNvPr id="6" name="Rectangle 5"/>
          <p:cNvSpPr/>
          <p:nvPr/>
        </p:nvSpPr>
        <p:spPr>
          <a:xfrm>
            <a:off x="1097280" y="256032"/>
            <a:ext cx="1371600" cy="384048"/>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4320"/>
            <a:ext cx="1371600" cy="347472"/>
          </a:xfrm>
          <a:prstGeom prst="rect">
            <a:avLst/>
          </a:prstGeom>
          <a:noFill/>
        </p:spPr>
        <p:txBody>
          <a:bodyPr wrap="square">
            <a:spAutoFit/>
          </a:bodyPr>
          <a:lstStyle/>
          <a:p>
            <a:pPr algn="ctr"/>
            <a:r>
              <a:rPr sz="1200" b="1" i="0">
                <a:solidFill>
                  <a:srgbClr val="FFFFFF"/>
                </a:solidFill>
              </a:rPr>
              <a:t>MODERATE</a:t>
            </a:r>
          </a:p>
        </p:txBody>
      </p:sp>
      <p:sp>
        <p:nvSpPr>
          <p:cNvPr id="8" name="TextBox 7"/>
          <p:cNvSpPr txBox="1"/>
          <p:nvPr/>
        </p:nvSpPr>
        <p:spPr>
          <a:xfrm>
            <a:off x="2606040" y="91440"/>
            <a:ext cx="3657600" cy="365760"/>
          </a:xfrm>
          <a:prstGeom prst="rect">
            <a:avLst/>
          </a:prstGeom>
          <a:noFill/>
        </p:spPr>
        <p:txBody>
          <a:bodyPr wrap="square">
            <a:spAutoFit/>
          </a:bodyPr>
          <a:lstStyle/>
          <a:p>
            <a:pPr algn="l"/>
            <a:r>
              <a:rPr sz="1000" b="1" i="0">
                <a:solidFill>
                  <a:srgbClr val="555555"/>
                </a:solidFill>
              </a:rPr>
              <a:t>ANTICIPATED CHALLENGE</a:t>
            </a:r>
          </a:p>
        </p:txBody>
      </p:sp>
      <p:sp>
        <p:nvSpPr>
          <p:cNvPr id="9" name="Rectangle 8"/>
          <p:cNvSpPr/>
          <p:nvPr/>
        </p:nvSpPr>
        <p:spPr>
          <a:xfrm>
            <a:off x="274320" y="1188720"/>
            <a:ext cx="5303520"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188720"/>
            <a:ext cx="5303520" cy="4114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34440"/>
            <a:ext cx="5029200" cy="347472"/>
          </a:xfrm>
          <a:prstGeom prst="rect">
            <a:avLst/>
          </a:prstGeom>
          <a:noFill/>
        </p:spPr>
        <p:txBody>
          <a:bodyPr wrap="square">
            <a:spAutoFit/>
          </a:bodyPr>
          <a:lstStyle/>
          <a:p>
            <a:pPr algn="l"/>
            <a:r>
              <a:rPr sz="1200" b="1" i="0">
                <a:solidFill>
                  <a:srgbClr val="FFFFFF"/>
                </a:solidFill>
              </a:rPr>
              <a:t>THE CHALLENGE</a:t>
            </a:r>
          </a:p>
        </p:txBody>
      </p:sp>
      <p:sp>
        <p:nvSpPr>
          <p:cNvPr id="12" name="TextBox 11"/>
          <p:cNvSpPr txBox="1"/>
          <p:nvPr/>
        </p:nvSpPr>
        <p:spPr>
          <a:xfrm>
            <a:off x="411480" y="1719072"/>
            <a:ext cx="5074920" cy="1371600"/>
          </a:xfrm>
          <a:prstGeom prst="rect">
            <a:avLst/>
          </a:prstGeom>
          <a:noFill/>
        </p:spPr>
        <p:txBody>
          <a:bodyPr wrap="square">
            <a:spAutoFit/>
          </a:bodyPr>
          <a:lstStyle/>
          <a:p>
            <a:pPr algn="l"/>
            <a:r>
              <a:rPr sz="1500" b="1" i="1">
                <a:solidFill>
                  <a:srgbClr val="2B2B2B"/>
                </a:solidFill>
              </a:rPr>
              <a:t>"How does this specifically help vendors? That's the revenue problem we're trying to solve."</a:t>
            </a:r>
          </a:p>
        </p:txBody>
      </p:sp>
      <p:sp>
        <p:nvSpPr>
          <p:cNvPr id="13" name="Rectangle 12"/>
          <p:cNvSpPr/>
          <p:nvPr/>
        </p:nvSpPr>
        <p:spPr>
          <a:xfrm>
            <a:off x="274320" y="3200400"/>
            <a:ext cx="5303520" cy="365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310128"/>
            <a:ext cx="5029200" cy="347472"/>
          </a:xfrm>
          <a:prstGeom prst="rect">
            <a:avLst/>
          </a:prstGeom>
          <a:noFill/>
        </p:spPr>
        <p:txBody>
          <a:bodyPr wrap="square">
            <a:spAutoFit/>
          </a:bodyPr>
          <a:lstStyle/>
          <a:p>
            <a:pPr algn="l"/>
            <a:r>
              <a:rPr sz="1100" b="1" i="0">
                <a:solidFill>
                  <a:srgbClr val="8B1A1A"/>
                </a:solidFill>
              </a:rPr>
              <a:t>Why it's tricky:</a:t>
            </a:r>
          </a:p>
        </p:txBody>
      </p:sp>
      <p:sp>
        <p:nvSpPr>
          <p:cNvPr id="15" name="TextBox 14"/>
          <p:cNvSpPr txBox="1"/>
          <p:nvPr/>
        </p:nvSpPr>
        <p:spPr>
          <a:xfrm>
            <a:off x="411480" y="3675887"/>
            <a:ext cx="5029200" cy="1371600"/>
          </a:xfrm>
          <a:prstGeom prst="rect">
            <a:avLst/>
          </a:prstGeom>
          <a:noFill/>
        </p:spPr>
        <p:txBody>
          <a:bodyPr wrap="square">
            <a:spAutoFit/>
          </a:bodyPr>
          <a:lstStyle/>
          <a:p>
            <a:pPr algn="l"/>
            <a:r>
              <a:rPr sz="1200" b="0" i="1">
                <a:solidFill>
                  <a:srgbClr val="555555"/>
                </a:solidFill>
              </a:rPr>
              <a:t>The job is special events — vendor relationships matter. Fix 1+2 doesn't directly drive booth traffic.</a:t>
            </a:r>
          </a:p>
        </p:txBody>
      </p:sp>
      <p:sp>
        <p:nvSpPr>
          <p:cNvPr id="16" name="Rectangle 15"/>
          <p:cNvSpPr/>
          <p:nvPr/>
        </p:nvSpPr>
        <p:spPr>
          <a:xfrm>
            <a:off x="5897880" y="1188720"/>
            <a:ext cx="6016752" cy="534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6016752" cy="41148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1234440"/>
            <a:ext cx="5760720" cy="347472"/>
          </a:xfrm>
          <a:prstGeom prst="rect">
            <a:avLst/>
          </a:prstGeom>
          <a:noFill/>
        </p:spPr>
        <p:txBody>
          <a:bodyPr wrap="square">
            <a:spAutoFit/>
          </a:bodyPr>
          <a:lstStyle/>
          <a:p>
            <a:pPr algn="l"/>
            <a:r>
              <a:rPr sz="1200" b="1" i="0">
                <a:solidFill>
                  <a:srgbClr val="FFFFFF"/>
                </a:solidFill>
              </a:rPr>
              <a:t>YOUR ANSWER</a:t>
            </a:r>
          </a:p>
        </p:txBody>
      </p:sp>
      <p:sp>
        <p:nvSpPr>
          <p:cNvPr id="19" name="TextBox 18"/>
          <p:cNvSpPr txBox="1"/>
          <p:nvPr/>
        </p:nvSpPr>
        <p:spPr>
          <a:xfrm>
            <a:off x="6035040" y="1719072"/>
            <a:ext cx="5760720" cy="3657600"/>
          </a:xfrm>
          <a:prstGeom prst="rect">
            <a:avLst/>
          </a:prstGeom>
          <a:noFill/>
        </p:spPr>
        <p:txBody>
          <a:bodyPr wrap="square">
            <a:spAutoFit/>
          </a:bodyPr>
          <a:lstStyle/>
          <a:p>
            <a:pPr>
              <a:spcAft>
                <a:spcPts val="600"/>
              </a:spcAft>
            </a:pPr>
            <a:r>
              <a:rPr sz="1300" b="0">
                <a:solidFill>
                  <a:srgbClr val="2B2B2B"/>
                </a:solidFill>
              </a:rPr>
              <a:t>Be honest about what this does and doesn't do.</a:t>
            </a:r>
          </a:p>
          <a:p>
            <a:pPr>
              <a:spcAft>
                <a:spcPts val="600"/>
              </a:spcAft>
            </a:pPr>
            <a:r>
              <a:rPr sz="1300" b="0">
                <a:solidFill>
                  <a:srgbClr val="2B2B2B"/>
                </a:solidFill>
              </a:rPr>
              <a:t/>
            </a:r>
          </a:p>
          <a:p>
            <a:pPr>
              <a:spcAft>
                <a:spcPts val="600"/>
              </a:spcAft>
            </a:pPr>
            <a:r>
              <a:rPr sz="1300" b="0">
                <a:solidFill>
                  <a:srgbClr val="2B2B2B"/>
                </a:solidFill>
              </a:rPr>
              <a:t>"Fix 1 and 2 solve the precondition problem — families leave before they ever have a chance to engage with vendors. You can't drive vendor traffic if your audience has gone home."</a:t>
            </a:r>
          </a:p>
          <a:p>
            <a:pPr>
              <a:spcAft>
                <a:spcPts val="600"/>
              </a:spcAft>
            </a:pPr>
            <a:r>
              <a:rPr sz="1300" b="0">
                <a:solidFill>
                  <a:srgbClr val="2B2B2B"/>
                </a:solidFill>
              </a:rPr>
              <a:t/>
            </a:r>
          </a:p>
          <a:p>
            <a:pPr>
              <a:spcAft>
                <a:spcPts val="600"/>
              </a:spcAft>
            </a:pPr>
            <a:r>
              <a:rPr sz="1300" b="0">
                <a:solidFill>
                  <a:srgbClr val="2B2B2B"/>
                </a:solidFill>
              </a:rPr>
              <a:t>Longer dwell time = more opportunity for natural vendor discovery.</a:t>
            </a:r>
          </a:p>
          <a:p>
            <a:pPr>
              <a:spcAft>
                <a:spcPts val="600"/>
              </a:spcAft>
            </a:pPr>
            <a:r>
              <a:rPr sz="1300" b="0">
                <a:solidFill>
                  <a:srgbClr val="2B2B2B"/>
                </a:solidFill>
              </a:rPr>
              <a:t/>
            </a:r>
          </a:p>
          <a:p>
            <a:pPr>
              <a:spcAft>
                <a:spcPts val="600"/>
              </a:spcAft>
            </a:pPr>
            <a:r>
              <a:rPr sz="1300" b="0">
                <a:solidFill>
                  <a:srgbClr val="2B2B2B"/>
                </a:solidFill>
              </a:rPr>
              <a:t>"For more direct vendor activation, the natural Phase 2 is positioning vendor booths along the corridor between hunt zones and the race area — families physically walk through the vendor area as part of the handoff. That's a layout decision that costs nothing and compounds the impact."</a:t>
            </a:r>
          </a:p>
          <a:p>
            <a:pPr>
              <a:spcAft>
                <a:spcPts val="600"/>
              </a:spcAft>
            </a:pPr>
            <a:r>
              <a:rPr sz="1300" b="0">
                <a:solidFill>
                  <a:srgbClr val="2B2B2B"/>
                </a:solidFill>
              </a:rPr>
              <a:t/>
            </a:r>
          </a:p>
          <a:p>
            <a:pPr>
              <a:spcAft>
                <a:spcPts val="600"/>
              </a:spcAft>
            </a:pPr>
            <a:r>
              <a:rPr sz="1300" b="0">
                <a:solidFill>
                  <a:srgbClr val="2B2B2B"/>
                </a:solidFill>
              </a:rPr>
              <a:t>Show you're thinking in phases, not just one answer.</a:t>
            </a:r>
          </a:p>
        </p:txBody>
      </p:sp>
      <p:sp>
        <p:nvSpPr>
          <p:cNvPr id="20" name="Rectangle 19"/>
          <p:cNvSpPr/>
          <p:nvPr/>
        </p:nvSpPr>
        <p:spPr>
          <a:xfrm>
            <a:off x="5897880" y="6035040"/>
            <a:ext cx="6016752"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6080760"/>
            <a:ext cx="5760720" cy="411480"/>
          </a:xfrm>
          <a:prstGeom prst="rect">
            <a:avLst/>
          </a:prstGeom>
          <a:noFill/>
        </p:spPr>
        <p:txBody>
          <a:bodyPr wrap="square">
            <a:spAutoFit/>
          </a:bodyPr>
          <a:lstStyle/>
          <a:p>
            <a:pPr algn="l"/>
            <a:r>
              <a:rPr sz="1200" b="1" i="1">
                <a:solidFill>
                  <a:srgbClr val="1A5C38"/>
                </a:solidFill>
              </a:rPr>
              <a:t>"This solves the precondition. Phase 2 connects vendors directly to the 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64008"/>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64008"/>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
            <a:ext cx="11247120" cy="914400"/>
          </a:xfrm>
          <a:prstGeom prst="rect">
            <a:avLst/>
          </a:prstGeom>
          <a:noFill/>
        </p:spPr>
        <p:txBody>
          <a:bodyPr wrap="square">
            <a:spAutoFit/>
          </a:bodyPr>
          <a:lstStyle/>
          <a:p>
            <a:pPr algn="ctr"/>
            <a:r>
              <a:rPr sz="3200" b="1" i="0">
                <a:solidFill>
                  <a:srgbClr val="FFFFFF"/>
                </a:solidFill>
              </a:rPr>
              <a:t>KNOW YOUR HARDEST ONE</a:t>
            </a:r>
          </a:p>
        </p:txBody>
      </p:sp>
      <p:sp>
        <p:nvSpPr>
          <p:cNvPr id="6" name="Rectangle 5"/>
          <p:cNvSpPr/>
          <p:nvPr/>
        </p:nvSpPr>
        <p:spPr>
          <a:xfrm>
            <a:off x="457200" y="1417320"/>
            <a:ext cx="11274552" cy="3794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10789920" cy="457200"/>
          </a:xfrm>
          <a:prstGeom prst="rect">
            <a:avLst/>
          </a:prstGeom>
          <a:noFill/>
        </p:spPr>
        <p:txBody>
          <a:bodyPr wrap="square">
            <a:spAutoFit/>
          </a:bodyPr>
          <a:lstStyle/>
          <a:p>
            <a:pPr algn="l"/>
            <a:r>
              <a:rPr sz="1600" b="1" i="0">
                <a:solidFill>
                  <a:srgbClr val="B03A2E"/>
                </a:solidFill>
              </a:rPr>
              <a:t>Challenge 06 is the one to own:</a:t>
            </a:r>
          </a:p>
        </p:txBody>
      </p:sp>
      <p:sp>
        <p:nvSpPr>
          <p:cNvPr id="8" name="TextBox 7"/>
          <p:cNvSpPr txBox="1"/>
          <p:nvPr/>
        </p:nvSpPr>
        <p:spPr>
          <a:xfrm>
            <a:off x="685800" y="2103120"/>
            <a:ext cx="10789920" cy="640080"/>
          </a:xfrm>
          <a:prstGeom prst="rect">
            <a:avLst/>
          </a:prstGeom>
          <a:noFill/>
        </p:spPr>
        <p:txBody>
          <a:bodyPr wrap="square">
            <a:spAutoFit/>
          </a:bodyPr>
          <a:lstStyle/>
          <a:p>
            <a:pPr algn="l"/>
            <a:r>
              <a:rPr sz="1800" b="1" i="1">
                <a:solidFill>
                  <a:srgbClr val="FFFFFF"/>
                </a:solidFill>
              </a:rPr>
              <a:t>"This feels incremental. Is this really a meaningful enhancement?"</a:t>
            </a:r>
          </a:p>
        </p:txBody>
      </p:sp>
      <p:sp>
        <p:nvSpPr>
          <p:cNvPr id="9" name="TextBox 8"/>
          <p:cNvSpPr txBox="1"/>
          <p:nvPr/>
        </p:nvSpPr>
        <p:spPr>
          <a:xfrm>
            <a:off x="685800" y="2834640"/>
            <a:ext cx="10789920" cy="2194560"/>
          </a:xfrm>
          <a:prstGeom prst="rect">
            <a:avLst/>
          </a:prstGeom>
          <a:noFill/>
        </p:spPr>
        <p:txBody>
          <a:bodyPr wrap="square">
            <a:spAutoFit/>
          </a:bodyPr>
          <a:lstStyle/>
          <a:p>
            <a:pPr algn="l"/>
            <a:r>
              <a:rPr sz="1400" b="0" i="0">
                <a:solidFill>
                  <a:srgbClr val="F4F4F4"/>
                </a:solidFill>
              </a:rPr>
              <a:t>Don't apologize. Don't get defensive. Say this with conviction:
"Low cost and high impact aren't opposites. We're not adding complexity — we're removing friction. Right now families experience one chapter of the event. After this recommendation, they experience the whole story. That's the job."</a:t>
            </a:r>
          </a:p>
        </p:txBody>
      </p:sp>
      <p:sp>
        <p:nvSpPr>
          <p:cNvPr id="10" name="TextBox 9"/>
          <p:cNvSpPr txBox="1"/>
          <p:nvPr/>
        </p:nvSpPr>
        <p:spPr>
          <a:xfrm>
            <a:off x="457200" y="5577840"/>
            <a:ext cx="11247120" cy="1005840"/>
          </a:xfrm>
          <a:prstGeom prst="rect">
            <a:avLst/>
          </a:prstGeom>
          <a:noFill/>
        </p:spPr>
        <p:txBody>
          <a:bodyPr wrap="square">
            <a:spAutoFit/>
          </a:bodyPr>
          <a:lstStyle/>
          <a:p>
            <a:pPr>
              <a:spcAft>
                <a:spcPts val="600"/>
              </a:spcAft>
            </a:pPr>
            <a:r>
              <a:rPr sz="1300" b="0">
                <a:solidFill>
                  <a:srgbClr val="D4A017"/>
                </a:solidFill>
              </a:rPr>
              <a:t>EASY to defend:   01 · 02 · 03 · 04</a:t>
            </a:r>
          </a:p>
          <a:p>
            <a:pPr>
              <a:spcAft>
                <a:spcPts val="600"/>
              </a:spcAft>
            </a:pPr>
            <a:r>
              <a:rPr sz="1300" b="0">
                <a:solidFill>
                  <a:srgbClr val="D4A017"/>
                </a:solidFill>
              </a:rPr>
              <a:t>MODERATE:         05 · 07</a:t>
            </a:r>
          </a:p>
          <a:p>
            <a:pPr>
              <a:spcAft>
                <a:spcPts val="600"/>
              </a:spcAft>
            </a:pPr>
            <a:r>
              <a:rPr sz="1300" b="0">
                <a:solidFill>
                  <a:srgbClr val="D4A017"/>
                </a:solidFill>
              </a:rPr>
              <a:t>HARDEST:          06  ← practice this one out loud, multiple times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