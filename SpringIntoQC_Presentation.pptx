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2606040"/>
            <a:ext cx="11430000" cy="6400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SPRING INTO QC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4A017"/>
                </a:solidFill>
              </a:rPr>
              <a:t>Enhancing Engagement Beyond the Egg Hunt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</a:rPr>
              <a:t>Executive Recommendation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4F4F4"/>
                </a:solidFill>
              </a:rPr>
              <a:t>Town of Queen Creek  |  Parks &amp; Recreation  |  Special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4A017"/>
                </a:solidFill>
              </a:rPr>
              <a:t>Recreation Coordinator Candidate  |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Who We're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Queen Creek Community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2944368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4591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95,338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377439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Residents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150876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59" y="2944368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9" y="164591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6.2%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2377439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Annual Growth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50876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26679" y="2944368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164591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$141,978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377439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Median HH Income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4612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4681727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338327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3.41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114800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Avg Household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59" y="324612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3359" y="4681727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9" y="338327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37 yrs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9" y="4114800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Median 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79" y="3246120"/>
            <a:ext cx="34747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26679" y="4681727"/>
            <a:ext cx="347472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3383279"/>
            <a:ext cx="32918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C38"/>
                </a:solidFill>
              </a:rPr>
              <a:t>90%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19" y="4114800"/>
            <a:ext cx="3291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Homeownership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17220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5C38"/>
                </a:solidFill>
              </a:rPr>
              <a:t>★  Town Vision: "Convenience of the city, comfort of the country"  |  FY2026 Priority: Quality of Lifestyle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Spring Into QC — Current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Frontier Family Park  |  9:00 AM – 1:00 PM  |  Annual March Event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577840" cy="38404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3949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the Event Offers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856232"/>
            <a:ext cx="5394959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Egg Hunts — free, by age group, 9:30 AM through 12:30 PM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Fast &amp; Furriest Animal Races — chicks, bunnies &amp; tortoises, starting 10 AM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5 race heats with bracket rounds (Tortoise &amp; the Hare, Fan Favorite)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Play Zone — inflatables, bungee run, obstacle course, mega slides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Tot Spot — dedicated area for ages 5 and under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The Great EggScape — interactive story walk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Color Blast — splatter paint experience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Vendors &amp; community partners throughout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5806440" cy="384048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472184"/>
            <a:ext cx="56235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856232"/>
            <a:ext cx="5623559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Families arrive with one goal: the egg hunt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Once their age group's hunt ends — the visit feels complete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No clear signal about what comes next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Families exit before experiencing vendors, races, or other attractions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Revenue and engagement opportunities go unrealized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Event elements are strong individually — but not connected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the Research Revealed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Confirmed Facts · Identified Gaps · Basis for Recommendation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115214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A5C38"/>
                </a:solidFill>
              </a:rPr>
              <a:t>Spring Into QC is a well-built event with strong programming. The gaps are operational — not programmatic.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76272"/>
            <a:ext cx="3657600" cy="34747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203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FINDING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3744"/>
            <a:ext cx="36576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</a:rPr>
              <a:t>The Raffle Loop Is Broken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980944"/>
            <a:ext cx="365760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34290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Raffle tickets are given to attendees who correctly pick animal race winners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Five race heats run from 10 AM onward — tickets accumulate throughout the morning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No publicly announced Grand Prize Drawing tied to those tickets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Result: Tickets feel like trinkets, not incentives to stay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000" i="1" b="0">
                <a:solidFill>
                  <a:srgbClr val="555555"/>
                </a:solidFill>
              </a:rPr>
              <a:t>Source: Official event descriptions, Queen Creek Parks &amp; Recreation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2176272"/>
            <a:ext cx="3657600" cy="347472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2203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FINDING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7" y="2523744"/>
            <a:ext cx="36576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</a:rPr>
              <a:t>Activities Run in Silos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8807" y="2980944"/>
            <a:ext cx="365760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3090672"/>
            <a:ext cx="34290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Egg hunts, animal races, Play Zone, Great EggScape, Color Blast all exist independently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No event-wide narrative or flow connecting them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Families who finish one activity face an unstructured decision: what next?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Without a clear path forward, the default is to leave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000" i="1" b="0">
                <a:solidFill>
                  <a:srgbClr val="555555"/>
                </a:solidFill>
              </a:rPr>
              <a:t>Source: Queen Creek Independent, Chamber of Commerce event listings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7575" y="2176272"/>
            <a:ext cx="3657600" cy="347472"/>
          </a:xfrm>
          <a:prstGeom prst="rect">
            <a:avLst/>
          </a:prstGeom>
          <a:solidFill>
            <a:srgbClr val="5D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3" y="2203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FINDING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5" y="2523744"/>
            <a:ext cx="36576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7303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</a:rPr>
              <a:t>The Post-Hunt Moment Is Unclaimed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7575" y="2980944"/>
            <a:ext cx="365760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3090672"/>
            <a:ext cx="34290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Egg hunts run 9:30 AM – 12:30 PM, staggered by age group (already well-structured)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The departure problem isn't mass exodus — it's per-wave drift after each group finishes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The 30 seconds after a family's hunt ends is the critical decision window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>• Currently: no staff, no signage, no programming targeting that exact moment</a:t>
            </a:r>
          </a:p>
          <a:p>
            <a:pPr>
              <a:spcAft>
                <a:spcPts val="500"/>
              </a:spcAft>
            </a:pPr>
            <a:r>
              <a:rPr sz="1100" i="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000" i="1" b="0">
                <a:solidFill>
                  <a:srgbClr val="555555"/>
                </a:solidFill>
              </a:rPr>
              <a:t>Source: Event schedule analysis, Town problem statement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922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5C38"/>
                </a:solidFill>
              </a:rPr>
              <a:t>All three findings point to the same conclusion: the event elements are strong — the connections between them are missing.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What Was Confirmed vs. What Was Assumed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486400" cy="41148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2120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CONFIRMED  —  From Public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28800"/>
            <a:ext cx="54864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385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Event Basics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93852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Annual March event · Frontier Family Park · 9 AM – 1 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286000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2257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Egg Hunt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32257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Age-group hunts staggered 9:30 AM – 12:30 PM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0048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066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Animal Races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706624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Fast &amp; Furriest · chicks, bunnies, tortoises · 5 heats from 10 AM · raffle ticket mechanic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54096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906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Other 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0906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Play Zone, Tot Spot, The Great EggScape, Color Blast · all free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438144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74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Community Demographics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47472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~95K residents · 6.2% annual growth · $141,978 median HH income · avg HH size 3.41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822191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58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Town Strategic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85876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"Convenience of the city, comfort of the country" · FY26 priority: Quality of Lifestyle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06240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428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C38"/>
                </a:solidFill>
              </a:rPr>
              <a:t>Vendor 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24281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McKinna Evans · mckinna.evans@queencreekaz.gov · 480-358-3723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590288"/>
            <a:ext cx="530352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1417320"/>
            <a:ext cx="5806440" cy="411480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463040"/>
            <a:ext cx="5532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ASSUMED  —  Flagged Per Brief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1828800"/>
            <a:ext cx="580644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193852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Early Departure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193852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Accepted as described in Town problem statement; no exit count data available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304288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23591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Vendor Revenue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2359152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Assumed lower sales correlate with early departures; no revenue figures confirmed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724912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277977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Raffle Prize Drawing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2779776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No announced drawing confirmed; assumed based on absence in all event descriptions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145536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200400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Staffing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200400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Redeployment feasibility assumed; actual staffing levels not publicly available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3566160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3621024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Sponsor Interest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3621024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Local business appetite for prize sponsorship assumed based on comparable programs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986784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4041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3A2E"/>
                </a:solidFill>
              </a:rPr>
              <a:t>Dwell Time Baseline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04164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</a:rPr>
              <a:t>No existing measurement; proposed as Year 1 metric to establish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407408"/>
            <a:ext cx="5577840" cy="1828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0040" y="6382512"/>
            <a:ext cx="1152144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5C38"/>
                </a:solidFill>
              </a:rPr>
              <a:t>Sources: queencreekaz.gov/springintoQC  ·  Queen Creek Independent  ·  Queen Creek Chamber of Commerce  ·  Hoodline (2025)  ·  worldpopulationreview.com  ·  queencreekaz.gov/government (Strategic Plan)  ·  U.S. Census / uscitydata.com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Two Connected Fixes — Low Cost, High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115214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A5C38"/>
                </a:solidFill>
              </a:rPr>
              <a:t>Spring Into QC already has the right ingredients. The opportunity is connecting them so families experience the full event — not just the egg hunt.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286000"/>
            <a:ext cx="544068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286000"/>
            <a:ext cx="5440680" cy="45720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FIX 1  —  Activate the Raffle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80360"/>
            <a:ext cx="5166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Make the Animal Races the event's anchor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Raffle tickets are already given for picking race winners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Right now there's no announced prize drawing — tickets lack a payoff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Add a publicized Grand Prize Drawing at 12:15 PM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Families now have a reason to stay through every race heat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Prizes sourced from local sponsors — zero Town cost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The mechanic exists. We're completing the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286000"/>
            <a:ext cx="589788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2286000"/>
            <a:ext cx="5897880" cy="45720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331720"/>
            <a:ext cx="5623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FIX 2  —  The Post-Hunt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880360"/>
            <a:ext cx="5623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Capture families at the moment they finish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Hunt staff transition to handoff roles as each age group finishes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One staff member at each hunt exit with a clear next step: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  'Next race heat in 10 minutes — head that way!'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Simple directional signage reinforces the message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• No new hires — redeployment of existing event staff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The 30 seconds after the hunt is when families decide to stay or go.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We own that moment.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Operational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Pre-Event Through Day-Of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2697480" cy="43891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 Weeks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01952"/>
            <a:ext cx="269748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993392"/>
            <a:ext cx="2514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Confirm Grand Prize Drawing format &amp; timing (12:15 PM)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Recruit local business sponsor for prize package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Design &amp; print directional signage for hunt exits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Brief vendor team on updated event 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463040"/>
            <a:ext cx="2697480" cy="438912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 Weeks 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901952"/>
            <a:ext cx="269748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993392"/>
            <a:ext cx="2514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Finalize prize package (experiential: rec memberships, dining, local experiences)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Confirm staff assignments &amp; handoff role training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Distribute updated site map to all vendors &amp; partners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Prep race announcement script for emcee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63040"/>
            <a:ext cx="2697480" cy="438912"/>
          </a:xfrm>
          <a:prstGeom prst="rect">
            <a:avLst/>
          </a:prstGeom>
          <a:solidFill>
            <a:srgbClr val="1A7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Day Of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901952"/>
            <a:ext cx="269748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1993392"/>
            <a:ext cx="2514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Hunt staff briefed on handoff protocol at team check-in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Directional signs posted at all hunt exit points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Emcee announces race schedule &amp; prize drawing at event open (9 AM)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Hunt staff transition to handoff roles as each age group concludes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Grand Prize Drawing announced at 12:15 PM from main stage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463040"/>
            <a:ext cx="2697480" cy="438912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Post-Event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901952"/>
            <a:ext cx="269748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848" y="1993392"/>
            <a:ext cx="2514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Vendor satisfaction survey (5 questions, emailed within 48 hrs)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Staff debrief — what worked, what didn't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Document raffle ticket submission rate as retention proxy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B2B2B"/>
                </a:solidFill>
              </a:rPr>
              <a:t>• Present findings to leadership ahead of next year's planning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Staffing &amp;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017"/>
                </a:solidFill>
              </a:rPr>
              <a:t>Minimal New Investment — Maximum Leverage of Existing Resources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5486400" cy="38404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Staffing — Redeployment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01952"/>
            <a:ext cx="5303520" cy="3639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No new hires required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Egg hunt staff (already scheduled) transition to handoff roles as each age group finishes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1 staff per hunt exit point — stationed for 15 min post-hunt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Emcee incorporates race schedule &amp; prize drawing into existing script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Event supervisor oversees handoff timing and race announcement coordination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B2B"/>
                </a:solidFill>
              </a:rPr>
              <a:t>• Assumption: Current staffing levels cover existing hunt operations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463040"/>
            <a:ext cx="589788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1463040"/>
            <a:ext cx="5897880" cy="38404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5087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Budget — Enhancement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965960"/>
            <a:ext cx="5897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029967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</a:rPr>
              <a:t>Directional signage (4–6 signs)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029967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B2B2B"/>
                </a:solidFill>
              </a:rPr>
              <a:t>$150 – $300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350008"/>
            <a:ext cx="589788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414015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</a:rPr>
              <a:t>Prize package — sponsor-funded (assumption)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414015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B2B2B"/>
                </a:solidFill>
              </a:rPr>
              <a:t>$0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34056"/>
            <a:ext cx="5897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798063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</a:rPr>
              <a:t>Emcee script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798063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B2B2B"/>
                </a:solidFill>
              </a:rPr>
              <a:t>$0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3118104"/>
            <a:ext cx="589788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3182112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</a:rPr>
              <a:t>Staff overtime (if applicable)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318211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B2B2B"/>
                </a:solidFill>
              </a:rPr>
              <a:t>$0 – $420*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3502152"/>
            <a:ext cx="5897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5661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5661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B2B2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886200"/>
            <a:ext cx="58978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95020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5C38"/>
                </a:solidFill>
              </a:rPr>
              <a:t>TOTAL ESTIMATED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39502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5C38"/>
                </a:solidFill>
              </a:rPr>
              <a:t>$150 – $720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43159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* Hunt staff transitioning to handoff roles = no additional hours if within scheduled shift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715000"/>
            <a:ext cx="11521440" cy="777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77900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5C38"/>
                </a:solidFill>
              </a:rPr>
              <a:t>Revenue Opportunity: Sponsor branding on prize package &amp; event signage valued at $500–$1,500. Enhancement is potentially cost-neutral or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88952" cy="6400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88952" cy="6400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4A017"/>
                </a:solidFill>
              </a:rPr>
              <a:t>Implement two targeted, low-cost enhancements for Spring Into QC 2027: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40280"/>
            <a:ext cx="5577840" cy="3017520"/>
          </a:xfrm>
          <a:prstGeom prst="rect">
            <a:avLst/>
          </a:prstGeom>
          <a:solidFill>
            <a:srgbClr val="22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017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Activate the Raffle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5257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4F4"/>
                </a:solidFill>
              </a:rPr>
              <a:t>Announce a Grand Prize Drawing at 12:15 PM. Leverage the existing raffle ticket mechanic from the animal races to give families a scheduled reason to stay through the final hour. Source prizes through local business sponsorship at no cost to the Town.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240280"/>
            <a:ext cx="5577840" cy="3017520"/>
          </a:xfrm>
          <a:prstGeom prst="rect">
            <a:avLst/>
          </a:prstGeom>
          <a:solidFill>
            <a:srgbClr val="22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3317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017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957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The Post-Hunt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257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4F4"/>
                </a:solidFill>
              </a:rPr>
              <a:t>Deploy hunt staff as handoff ambassadors the moment each age group's hunt concludes. Direct families immediately toward the next race heat. Own the 30-second window before the decision to leave is made.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394960"/>
            <a:ext cx="11430000" cy="73152"/>
          </a:xfrm>
          <a:prstGeom prst="rect">
            <a:avLst/>
          </a:prstGeom>
          <a:solidFill>
            <a:srgbClr val="22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5778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</a:rPr>
              <a:t>SUCCESS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5559552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Dwell time
(target: +45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559552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Raffle ticket
submission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559552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Vendor satisfaction
survey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5559552"/>
            <a:ext cx="2194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Sponsor revenue
generated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