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29200"/>
            <a:ext cx="12188952" cy="1828800"/>
          </a:xfrm>
          <a:prstGeom prst="rect">
            <a:avLst/>
          </a:prstGeom>
          <a:solidFill>
            <a:srgbClr val="2E7D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2606040"/>
            <a:ext cx="11430000" cy="64008"/>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822960"/>
            <a:ext cx="11247120" cy="1005840"/>
          </a:xfrm>
          <a:prstGeom prst="rect">
            <a:avLst/>
          </a:prstGeom>
          <a:noFill/>
        </p:spPr>
        <p:txBody>
          <a:bodyPr wrap="square">
            <a:spAutoFit/>
          </a:bodyPr>
          <a:lstStyle/>
          <a:p>
            <a:pPr algn="ctr"/>
            <a:r>
              <a:rPr sz="4800" b="1" i="0">
                <a:solidFill>
                  <a:srgbClr val="FFFFFF"/>
                </a:solidFill>
              </a:rPr>
              <a:t>SPRING INTO QC</a:t>
            </a:r>
          </a:p>
        </p:txBody>
      </p:sp>
      <p:sp>
        <p:nvSpPr>
          <p:cNvPr id="6" name="TextBox 5"/>
          <p:cNvSpPr txBox="1"/>
          <p:nvPr/>
        </p:nvSpPr>
        <p:spPr>
          <a:xfrm>
            <a:off x="457200" y="1874519"/>
            <a:ext cx="11247120" cy="685800"/>
          </a:xfrm>
          <a:prstGeom prst="rect">
            <a:avLst/>
          </a:prstGeom>
          <a:noFill/>
        </p:spPr>
        <p:txBody>
          <a:bodyPr wrap="square">
            <a:spAutoFit/>
          </a:bodyPr>
          <a:lstStyle/>
          <a:p>
            <a:pPr algn="ctr"/>
            <a:r>
              <a:rPr sz="2200" b="0" i="0">
                <a:solidFill>
                  <a:srgbClr val="D4A017"/>
                </a:solidFill>
              </a:rPr>
              <a:t>Connecting the Event Families Already Love</a:t>
            </a:r>
          </a:p>
        </p:txBody>
      </p:sp>
      <p:sp>
        <p:nvSpPr>
          <p:cNvPr id="7" name="TextBox 6"/>
          <p:cNvSpPr txBox="1"/>
          <p:nvPr/>
        </p:nvSpPr>
        <p:spPr>
          <a:xfrm>
            <a:off x="457200" y="2834640"/>
            <a:ext cx="11247120" cy="502920"/>
          </a:xfrm>
          <a:prstGeom prst="rect">
            <a:avLst/>
          </a:prstGeom>
          <a:noFill/>
        </p:spPr>
        <p:txBody>
          <a:bodyPr wrap="square">
            <a:spAutoFit/>
          </a:bodyPr>
          <a:lstStyle/>
          <a:p>
            <a:pPr algn="ctr"/>
            <a:r>
              <a:rPr sz="1600" b="0" i="1">
                <a:solidFill>
                  <a:srgbClr val="FFFFFF"/>
                </a:solidFill>
              </a:rPr>
              <a:t>Proposal Overview</a:t>
            </a:r>
          </a:p>
        </p:txBody>
      </p:sp>
      <p:sp>
        <p:nvSpPr>
          <p:cNvPr id="8" name="TextBox 7"/>
          <p:cNvSpPr txBox="1"/>
          <p:nvPr/>
        </p:nvSpPr>
        <p:spPr>
          <a:xfrm>
            <a:off x="457200" y="5212080"/>
            <a:ext cx="11247120" cy="457200"/>
          </a:xfrm>
          <a:prstGeom prst="rect">
            <a:avLst/>
          </a:prstGeom>
          <a:noFill/>
        </p:spPr>
        <p:txBody>
          <a:bodyPr wrap="square">
            <a:spAutoFit/>
          </a:bodyPr>
          <a:lstStyle/>
          <a:p>
            <a:pPr algn="ctr"/>
            <a:r>
              <a:rPr sz="1400" b="0" i="0">
                <a:solidFill>
                  <a:srgbClr val="F4F4F4"/>
                </a:solidFill>
              </a:rPr>
              <a:t>Town of Queen Creek  |  Parks &amp; Recreation  |  Special Events</a:t>
            </a:r>
          </a:p>
        </p:txBody>
      </p:sp>
      <p:sp>
        <p:nvSpPr>
          <p:cNvPr id="9" name="TextBox 8"/>
          <p:cNvSpPr txBox="1"/>
          <p:nvPr/>
        </p:nvSpPr>
        <p:spPr>
          <a:xfrm>
            <a:off x="457200" y="5669280"/>
            <a:ext cx="11247120" cy="457200"/>
          </a:xfrm>
          <a:prstGeom prst="rect">
            <a:avLst/>
          </a:prstGeom>
          <a:noFill/>
        </p:spPr>
        <p:txBody>
          <a:bodyPr wrap="square">
            <a:spAutoFit/>
          </a:bodyPr>
          <a:lstStyle/>
          <a:p>
            <a:pPr algn="ctr"/>
            <a:r>
              <a:rPr sz="1300" b="0" i="0">
                <a:solidFill>
                  <a:srgbClr val="D4A017"/>
                </a:solidFill>
              </a:rPr>
              <a:t>Recreation Coordinator Candidate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Who We're Serving</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Three Facts That Should Shape This Event, Not Just Describe It</a:t>
            </a:r>
          </a:p>
        </p:txBody>
      </p:sp>
      <p:sp>
        <p:nvSpPr>
          <p:cNvPr id="7" name="Rectangle 6"/>
          <p:cNvSpPr/>
          <p:nvPr/>
        </p:nvSpPr>
        <p:spPr>
          <a:xfrm>
            <a:off x="320040" y="1508760"/>
            <a:ext cx="3611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508760"/>
            <a:ext cx="3611880" cy="91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828800"/>
            <a:ext cx="3246120" cy="640080"/>
          </a:xfrm>
          <a:prstGeom prst="rect">
            <a:avLst/>
          </a:prstGeom>
          <a:noFill/>
        </p:spPr>
        <p:txBody>
          <a:bodyPr wrap="square">
            <a:spAutoFit/>
          </a:bodyPr>
          <a:lstStyle/>
          <a:p>
            <a:pPr algn="ctr"/>
            <a:r>
              <a:rPr sz="2600" b="1" i="0">
                <a:solidFill>
                  <a:srgbClr val="1A5C38"/>
                </a:solidFill>
              </a:rPr>
              <a:t>95,338 residents</a:t>
            </a:r>
          </a:p>
        </p:txBody>
      </p:sp>
      <p:sp>
        <p:nvSpPr>
          <p:cNvPr id="10" name="TextBox 9"/>
          <p:cNvSpPr txBox="1"/>
          <p:nvPr/>
        </p:nvSpPr>
        <p:spPr>
          <a:xfrm>
            <a:off x="502920" y="2468880"/>
            <a:ext cx="3246120" cy="365760"/>
          </a:xfrm>
          <a:prstGeom prst="rect">
            <a:avLst/>
          </a:prstGeom>
          <a:noFill/>
        </p:spPr>
        <p:txBody>
          <a:bodyPr wrap="square">
            <a:spAutoFit/>
          </a:bodyPr>
          <a:lstStyle/>
          <a:p>
            <a:pPr algn="ctr"/>
            <a:r>
              <a:rPr sz="1300" b="0" i="0">
                <a:solidFill>
                  <a:srgbClr val="555555"/>
                </a:solidFill>
              </a:rPr>
              <a:t>+6.2% growth / year</a:t>
            </a:r>
          </a:p>
        </p:txBody>
      </p:sp>
      <p:sp>
        <p:nvSpPr>
          <p:cNvPr id="11" name="Rectangle 10"/>
          <p:cNvSpPr/>
          <p:nvPr/>
        </p:nvSpPr>
        <p:spPr>
          <a:xfrm>
            <a:off x="777240" y="2926080"/>
            <a:ext cx="269748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154680"/>
            <a:ext cx="3154680" cy="2468880"/>
          </a:xfrm>
          <a:prstGeom prst="rect">
            <a:avLst/>
          </a:prstGeom>
          <a:noFill/>
        </p:spPr>
        <p:txBody>
          <a:bodyPr wrap="square">
            <a:spAutoFit/>
          </a:bodyPr>
          <a:lstStyle/>
          <a:p>
            <a:pPr algn="l"/>
            <a:r>
              <a:rPr sz="1300" b="0" i="0">
                <a:solidFill>
                  <a:srgbClr val="2B2B2B"/>
                </a:solidFill>
              </a:rPr>
              <a:t>One of Arizona's fastest-growing towns. Most families here are still forming their Queen Creek traditions. This event can be one of them.</a:t>
            </a:r>
          </a:p>
        </p:txBody>
      </p:sp>
      <p:sp>
        <p:nvSpPr>
          <p:cNvPr id="13" name="Rectangle 12"/>
          <p:cNvSpPr/>
          <p:nvPr/>
        </p:nvSpPr>
        <p:spPr>
          <a:xfrm>
            <a:off x="4114800" y="1508760"/>
            <a:ext cx="3611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0" y="1508760"/>
            <a:ext cx="3611880" cy="91440"/>
          </a:xfrm>
          <a:prstGeom prst="rect">
            <a:avLst/>
          </a:prstGeom>
          <a:solidFill>
            <a:srgbClr val="2E7D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828800"/>
            <a:ext cx="3246120" cy="640080"/>
          </a:xfrm>
          <a:prstGeom prst="rect">
            <a:avLst/>
          </a:prstGeom>
          <a:noFill/>
        </p:spPr>
        <p:txBody>
          <a:bodyPr wrap="square">
            <a:spAutoFit/>
          </a:bodyPr>
          <a:lstStyle/>
          <a:p>
            <a:pPr algn="ctr"/>
            <a:r>
              <a:rPr sz="2600" b="1" i="0">
                <a:solidFill>
                  <a:srgbClr val="1A5C38"/>
                </a:solidFill>
              </a:rPr>
              <a:t>$141,978</a:t>
            </a:r>
          </a:p>
        </p:txBody>
      </p:sp>
      <p:sp>
        <p:nvSpPr>
          <p:cNvPr id="16" name="TextBox 15"/>
          <p:cNvSpPr txBox="1"/>
          <p:nvPr/>
        </p:nvSpPr>
        <p:spPr>
          <a:xfrm>
            <a:off x="4297680" y="2468880"/>
            <a:ext cx="3246120" cy="365760"/>
          </a:xfrm>
          <a:prstGeom prst="rect">
            <a:avLst/>
          </a:prstGeom>
          <a:noFill/>
        </p:spPr>
        <p:txBody>
          <a:bodyPr wrap="square">
            <a:spAutoFit/>
          </a:bodyPr>
          <a:lstStyle/>
          <a:p>
            <a:pPr algn="ctr"/>
            <a:r>
              <a:rPr sz="1300" b="0" i="0">
                <a:solidFill>
                  <a:srgbClr val="555555"/>
                </a:solidFill>
              </a:rPr>
              <a:t>Median household income</a:t>
            </a:r>
          </a:p>
        </p:txBody>
      </p:sp>
      <p:sp>
        <p:nvSpPr>
          <p:cNvPr id="17" name="Rectangle 16"/>
          <p:cNvSpPr/>
          <p:nvPr/>
        </p:nvSpPr>
        <p:spPr>
          <a:xfrm>
            <a:off x="4572000" y="2926080"/>
            <a:ext cx="269748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43400" y="3154680"/>
            <a:ext cx="3154680" cy="2468880"/>
          </a:xfrm>
          <a:prstGeom prst="rect">
            <a:avLst/>
          </a:prstGeom>
          <a:noFill/>
        </p:spPr>
        <p:txBody>
          <a:bodyPr wrap="square">
            <a:spAutoFit/>
          </a:bodyPr>
          <a:lstStyle/>
          <a:p>
            <a:pPr algn="l"/>
            <a:r>
              <a:rPr sz="1300" b="0" i="0">
                <a:solidFill>
                  <a:srgbClr val="2B2B2B"/>
                </a:solidFill>
              </a:rPr>
              <a:t>This audience isn't showing up for free admission alone. A generic raffle prize won't hold them. The incentive has to match the community.</a:t>
            </a:r>
          </a:p>
        </p:txBody>
      </p:sp>
      <p:sp>
        <p:nvSpPr>
          <p:cNvPr id="19" name="Rectangle 18"/>
          <p:cNvSpPr/>
          <p:nvPr/>
        </p:nvSpPr>
        <p:spPr>
          <a:xfrm>
            <a:off x="7909560" y="1508760"/>
            <a:ext cx="3611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09560" y="1508760"/>
            <a:ext cx="3611880" cy="91440"/>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92440" y="1828800"/>
            <a:ext cx="3246120" cy="640080"/>
          </a:xfrm>
          <a:prstGeom prst="rect">
            <a:avLst/>
          </a:prstGeom>
          <a:noFill/>
        </p:spPr>
        <p:txBody>
          <a:bodyPr wrap="square">
            <a:spAutoFit/>
          </a:bodyPr>
          <a:lstStyle/>
          <a:p>
            <a:pPr algn="ctr"/>
            <a:r>
              <a:rPr sz="2600" b="1" i="0">
                <a:solidFill>
                  <a:srgbClr val="1A5C38"/>
                </a:solidFill>
              </a:rPr>
              <a:t>90%</a:t>
            </a:r>
          </a:p>
        </p:txBody>
      </p:sp>
      <p:sp>
        <p:nvSpPr>
          <p:cNvPr id="22" name="TextBox 21"/>
          <p:cNvSpPr txBox="1"/>
          <p:nvPr/>
        </p:nvSpPr>
        <p:spPr>
          <a:xfrm>
            <a:off x="8092440" y="2468880"/>
            <a:ext cx="3246120" cy="365760"/>
          </a:xfrm>
          <a:prstGeom prst="rect">
            <a:avLst/>
          </a:prstGeom>
          <a:noFill/>
        </p:spPr>
        <p:txBody>
          <a:bodyPr wrap="square">
            <a:spAutoFit/>
          </a:bodyPr>
          <a:lstStyle/>
          <a:p>
            <a:pPr algn="ctr"/>
            <a:r>
              <a:rPr sz="1300" b="0" i="0">
                <a:solidFill>
                  <a:srgbClr val="555555"/>
                </a:solidFill>
              </a:rPr>
              <a:t>Homeownership rate</a:t>
            </a:r>
          </a:p>
        </p:txBody>
      </p:sp>
      <p:sp>
        <p:nvSpPr>
          <p:cNvPr id="23" name="Rectangle 22"/>
          <p:cNvSpPr/>
          <p:nvPr/>
        </p:nvSpPr>
        <p:spPr>
          <a:xfrm>
            <a:off x="8366760" y="2926080"/>
            <a:ext cx="269748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3154680"/>
            <a:ext cx="3154680" cy="2468880"/>
          </a:xfrm>
          <a:prstGeom prst="rect">
            <a:avLst/>
          </a:prstGeom>
          <a:noFill/>
        </p:spPr>
        <p:txBody>
          <a:bodyPr wrap="square">
            <a:spAutoFit/>
          </a:bodyPr>
          <a:lstStyle/>
          <a:p>
            <a:pPr algn="l"/>
            <a:r>
              <a:rPr sz="1300" b="0" i="0">
                <a:solidFill>
                  <a:srgbClr val="2B2B2B"/>
                </a:solidFill>
              </a:rPr>
              <a:t>Residents are invested here, not passing through. They'll come back next year if this year earns it.</a:t>
            </a:r>
          </a:p>
        </p:txBody>
      </p:sp>
      <p:sp>
        <p:nvSpPr>
          <p:cNvPr id="25" name="TextBox 24"/>
          <p:cNvSpPr txBox="1"/>
          <p:nvPr/>
        </p:nvSpPr>
        <p:spPr>
          <a:xfrm>
            <a:off x="320040" y="6035040"/>
            <a:ext cx="11521440" cy="457200"/>
          </a:xfrm>
          <a:prstGeom prst="rect">
            <a:avLst/>
          </a:prstGeom>
          <a:noFill/>
        </p:spPr>
        <p:txBody>
          <a:bodyPr wrap="square">
            <a:spAutoFit/>
          </a:bodyPr>
          <a:lstStyle/>
          <a:p>
            <a:pPr algn="ctr"/>
            <a:r>
              <a:rPr sz="1300" b="0" i="1">
                <a:solidFill>
                  <a:srgbClr val="1A5C38"/>
                </a:solidFill>
              </a:rPr>
              <a:t>"Convenience of the city, comfort of the country" is the Town's own vision. This event should feel like both.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Spring Into QC Today</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Frontier Family Park  |  9:00 AM – 1:00 PM  |  Annual March Event  |  3,500+ Attendees</a:t>
            </a:r>
          </a:p>
        </p:txBody>
      </p:sp>
      <p:sp>
        <p:nvSpPr>
          <p:cNvPr id="7" name="Rectangle 6"/>
          <p:cNvSpPr/>
          <p:nvPr/>
        </p:nvSpPr>
        <p:spPr>
          <a:xfrm>
            <a:off x="320040" y="1417320"/>
            <a:ext cx="5577840" cy="384048"/>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72184"/>
            <a:ext cx="5394959" cy="320040"/>
          </a:xfrm>
          <a:prstGeom prst="rect">
            <a:avLst/>
          </a:prstGeom>
          <a:noFill/>
        </p:spPr>
        <p:txBody>
          <a:bodyPr wrap="square">
            <a:spAutoFit/>
          </a:bodyPr>
          <a:lstStyle/>
          <a:p>
            <a:pPr algn="l"/>
            <a:r>
              <a:rPr sz="1400" b="1" i="0">
                <a:solidFill>
                  <a:srgbClr val="FFFFFF"/>
                </a:solidFill>
              </a:rPr>
              <a:t>What the Event Already Offers</a:t>
            </a:r>
          </a:p>
        </p:txBody>
      </p:sp>
      <p:sp>
        <p:nvSpPr>
          <p:cNvPr id="9" name="TextBox 8"/>
          <p:cNvSpPr txBox="1"/>
          <p:nvPr/>
        </p:nvSpPr>
        <p:spPr>
          <a:xfrm>
            <a:off x="411479" y="1856232"/>
            <a:ext cx="5394959" cy="4553712"/>
          </a:xfrm>
          <a:prstGeom prst="rect">
            <a:avLst/>
          </a:prstGeom>
          <a:noFill/>
        </p:spPr>
        <p:txBody>
          <a:bodyPr wrap="square">
            <a:spAutoFit/>
          </a:bodyPr>
          <a:lstStyle/>
          <a:p>
            <a:pPr>
              <a:spcAft>
                <a:spcPts val="500"/>
              </a:spcAft>
            </a:pPr>
            <a:r>
              <a:rPr sz="1300">
                <a:solidFill>
                  <a:srgbClr val="2B2B2B"/>
                </a:solidFill>
              </a:rPr>
              <a:t>• Egg Hunts, free, by age group, staggered 9:30 AM – 12:30 PM</a:t>
            </a:r>
          </a:p>
          <a:p>
            <a:pPr>
              <a:spcAft>
                <a:spcPts val="500"/>
              </a:spcAft>
            </a:pPr>
            <a:r>
              <a:rPr sz="1300">
                <a:solidFill>
                  <a:srgbClr val="2B2B2B"/>
                </a:solidFill>
              </a:rPr>
              <a:t>• Fast &amp; Furriest Animal Races, featuring chicks, bunnies &amp; tortoises, 5 heats from 10 AM</a:t>
            </a:r>
          </a:p>
          <a:p>
            <a:pPr>
              <a:spcAft>
                <a:spcPts val="500"/>
              </a:spcAft>
            </a:pPr>
            <a:r>
              <a:rPr sz="1300">
                <a:solidFill>
                  <a:srgbClr val="2B2B2B"/>
                </a:solidFill>
              </a:rPr>
              <a:t>• Play Zone, bungee run, obstacle course, mega slides</a:t>
            </a:r>
          </a:p>
          <a:p>
            <a:pPr>
              <a:spcAft>
                <a:spcPts val="500"/>
              </a:spcAft>
            </a:pPr>
            <a:r>
              <a:rPr sz="1300">
                <a:solidFill>
                  <a:srgbClr val="2B2B2B"/>
                </a:solidFill>
              </a:rPr>
              <a:t>• Tot Spot, dedicated area for ages 5 and under</a:t>
            </a:r>
          </a:p>
          <a:p>
            <a:pPr>
              <a:spcAft>
                <a:spcPts val="500"/>
              </a:spcAft>
            </a:pPr>
            <a:r>
              <a:rPr sz="1300">
                <a:solidFill>
                  <a:srgbClr val="2B2B2B"/>
                </a:solidFill>
              </a:rPr>
              <a:t>• The Great EggScape, interactive story walk</a:t>
            </a:r>
          </a:p>
          <a:p>
            <a:pPr>
              <a:spcAft>
                <a:spcPts val="500"/>
              </a:spcAft>
            </a:pPr>
            <a:r>
              <a:rPr sz="1300">
                <a:solidFill>
                  <a:srgbClr val="2B2B2B"/>
                </a:solidFill>
              </a:rPr>
              <a:t>• Color Blast, splatter paint experience</a:t>
            </a:r>
          </a:p>
          <a:p>
            <a:pPr>
              <a:spcAft>
                <a:spcPts val="500"/>
              </a:spcAft>
            </a:pPr>
            <a:r>
              <a:rPr sz="1300">
                <a:solidFill>
                  <a:srgbClr val="2B2B2B"/>
                </a:solidFill>
              </a:rPr>
              <a:t>• Vendors &amp; community partners throughout</a:t>
            </a:r>
          </a:p>
        </p:txBody>
      </p:sp>
      <p:sp>
        <p:nvSpPr>
          <p:cNvPr id="10" name="Rectangle 9"/>
          <p:cNvSpPr/>
          <p:nvPr/>
        </p:nvSpPr>
        <p:spPr>
          <a:xfrm>
            <a:off x="6080760" y="1417320"/>
            <a:ext cx="5806440" cy="384048"/>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472184"/>
            <a:ext cx="5623559" cy="320040"/>
          </a:xfrm>
          <a:prstGeom prst="rect">
            <a:avLst/>
          </a:prstGeom>
          <a:noFill/>
        </p:spPr>
        <p:txBody>
          <a:bodyPr wrap="square">
            <a:spAutoFit/>
          </a:bodyPr>
          <a:lstStyle/>
          <a:p>
            <a:pPr algn="l"/>
            <a:r>
              <a:rPr sz="1400" b="1" i="0">
                <a:solidFill>
                  <a:srgbClr val="FFFFFF"/>
                </a:solidFill>
              </a:rPr>
              <a:t>The Gap</a:t>
            </a:r>
          </a:p>
        </p:txBody>
      </p:sp>
      <p:sp>
        <p:nvSpPr>
          <p:cNvPr id="12" name="TextBox 11"/>
          <p:cNvSpPr txBox="1"/>
          <p:nvPr/>
        </p:nvSpPr>
        <p:spPr>
          <a:xfrm>
            <a:off x="6172200" y="1856232"/>
            <a:ext cx="5623559" cy="4553712"/>
          </a:xfrm>
          <a:prstGeom prst="rect">
            <a:avLst/>
          </a:prstGeom>
          <a:noFill/>
        </p:spPr>
        <p:txBody>
          <a:bodyPr wrap="square">
            <a:spAutoFit/>
          </a:bodyPr>
          <a:lstStyle/>
          <a:p>
            <a:pPr>
              <a:spcAft>
                <a:spcPts val="500"/>
              </a:spcAft>
            </a:pPr>
            <a:r>
              <a:rPr sz="1300">
                <a:solidFill>
                  <a:srgbClr val="2B2B2B"/>
                </a:solidFill>
              </a:rPr>
              <a:t>• Families arrive with one goal: the egg hunt</a:t>
            </a:r>
          </a:p>
          <a:p>
            <a:pPr>
              <a:spcAft>
                <a:spcPts val="500"/>
              </a:spcAft>
            </a:pPr>
            <a:r>
              <a:rPr sz="1300">
                <a:solidFill>
                  <a:srgbClr val="2B2B2B"/>
                </a:solidFill>
              </a:rPr>
              <a:t>• Once their age group's hunt ends, the visit feels complete</a:t>
            </a:r>
          </a:p>
          <a:p>
            <a:pPr>
              <a:spcAft>
                <a:spcPts val="500"/>
              </a:spcAft>
            </a:pPr>
            <a:r>
              <a:rPr sz="1300">
                <a:solidFill>
                  <a:srgbClr val="2B2B2B"/>
                </a:solidFill>
              </a:rPr>
              <a:t>• Nothing in the moment tells them what to do next</a:t>
            </a:r>
          </a:p>
          <a:p>
            <a:pPr>
              <a:spcAft>
                <a:spcPts val="500"/>
              </a:spcAft>
            </a:pPr>
            <a:r>
              <a:rPr sz="1300">
                <a:solidFill>
                  <a:srgbClr val="2B2B2B"/>
                </a:solidFill>
              </a:rPr>
              <a:t>• Families exit before experiencing vendors, races, or anything else</a:t>
            </a:r>
          </a:p>
          <a:p>
            <a:pPr>
              <a:spcAft>
                <a:spcPts val="500"/>
              </a:spcAft>
            </a:pPr>
            <a:r>
              <a:rPr sz="1300">
                <a:solidFill>
                  <a:srgbClr val="2B2B2B"/>
                </a:solidFill>
              </a:rPr>
              <a:t>• Every activity here is strong, but none of them are connected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What the Research Revealed</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Three Findings, Same Root Cause</a:t>
            </a:r>
          </a:p>
        </p:txBody>
      </p:sp>
      <p:sp>
        <p:nvSpPr>
          <p:cNvPr id="7" name="Rectangle 6"/>
          <p:cNvSpPr/>
          <p:nvPr/>
        </p:nvSpPr>
        <p:spPr>
          <a:xfrm>
            <a:off x="320040" y="1463040"/>
            <a:ext cx="1152144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536192"/>
            <a:ext cx="11064240" cy="438912"/>
          </a:xfrm>
          <a:prstGeom prst="rect">
            <a:avLst/>
          </a:prstGeom>
          <a:noFill/>
        </p:spPr>
        <p:txBody>
          <a:bodyPr wrap="square">
            <a:spAutoFit/>
          </a:bodyPr>
          <a:lstStyle/>
          <a:p>
            <a:pPr algn="ctr"/>
            <a:r>
              <a:rPr sz="1300" b="0" i="1">
                <a:solidFill>
                  <a:srgbClr val="1A5C38"/>
                </a:solidFill>
              </a:rPr>
              <a:t>Spring Into QC is a well-built event. The gaps aren't in the programming, but in what connects it.</a:t>
            </a:r>
          </a:p>
        </p:txBody>
      </p:sp>
      <p:sp>
        <p:nvSpPr>
          <p:cNvPr id="9" name="Rectangle 8"/>
          <p:cNvSpPr/>
          <p:nvPr/>
        </p:nvSpPr>
        <p:spPr>
          <a:xfrm>
            <a:off x="320040" y="2176272"/>
            <a:ext cx="3657600" cy="347472"/>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8" y="2203704"/>
            <a:ext cx="3474720" cy="292608"/>
          </a:xfrm>
          <a:prstGeom prst="rect">
            <a:avLst/>
          </a:prstGeom>
          <a:noFill/>
        </p:spPr>
        <p:txBody>
          <a:bodyPr wrap="square">
            <a:spAutoFit/>
          </a:bodyPr>
          <a:lstStyle/>
          <a:p>
            <a:pPr algn="l"/>
            <a:r>
              <a:rPr sz="1100" b="1" i="0">
                <a:solidFill>
                  <a:srgbClr val="D4A017"/>
                </a:solidFill>
              </a:rPr>
              <a:t>FINDING 1</a:t>
            </a:r>
          </a:p>
        </p:txBody>
      </p:sp>
      <p:sp>
        <p:nvSpPr>
          <p:cNvPr id="11" name="Rectangle 10"/>
          <p:cNvSpPr/>
          <p:nvPr/>
        </p:nvSpPr>
        <p:spPr>
          <a:xfrm>
            <a:off x="320040" y="2523744"/>
            <a:ext cx="3657600" cy="54864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 y="2560320"/>
            <a:ext cx="3474720" cy="475488"/>
          </a:xfrm>
          <a:prstGeom prst="rect">
            <a:avLst/>
          </a:prstGeom>
          <a:noFill/>
        </p:spPr>
        <p:txBody>
          <a:bodyPr wrap="square">
            <a:spAutoFit/>
          </a:bodyPr>
          <a:lstStyle/>
          <a:p>
            <a:pPr algn="l"/>
            <a:r>
              <a:rPr sz="1400" b="1" i="0">
                <a:solidFill>
                  <a:srgbClr val="2B2B2B"/>
                </a:solidFill>
              </a:rPr>
              <a:t>The Raffle Isn't Backed by a Real Partnership</a:t>
            </a:r>
          </a:p>
        </p:txBody>
      </p:sp>
      <p:sp>
        <p:nvSpPr>
          <p:cNvPr id="13" name="Rectangle 12"/>
          <p:cNvSpPr/>
          <p:nvPr/>
        </p:nvSpPr>
        <p:spPr>
          <a:xfrm>
            <a:off x="320040" y="3072384"/>
            <a:ext cx="36576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00400"/>
            <a:ext cx="3429000" cy="2423160"/>
          </a:xfrm>
          <a:prstGeom prst="rect">
            <a:avLst/>
          </a:prstGeom>
          <a:noFill/>
        </p:spPr>
        <p:txBody>
          <a:bodyPr wrap="square">
            <a:spAutoFit/>
          </a:bodyPr>
          <a:lstStyle/>
          <a:p>
            <a:pPr>
              <a:spcAft>
                <a:spcPts val="800"/>
              </a:spcAft>
            </a:pPr>
            <a:r>
              <a:rPr sz="1200">
                <a:solidFill>
                  <a:srgbClr val="2B2B2B"/>
                </a:solidFill>
              </a:rPr>
              <a:t>• Correct race picks earn a raffle ticket, but no prize, drawing, or partner appears anywhere in event materials</a:t>
            </a:r>
          </a:p>
          <a:p>
            <a:pPr>
              <a:spcAft>
                <a:spcPts val="800"/>
              </a:spcAft>
            </a:pPr>
            <a:r>
              <a:rPr sz="1200">
                <a:solidFill>
                  <a:srgbClr val="2B2B2B"/>
                </a:solidFill>
              </a:rPr>
              <a:t>• That's not an oversight. A plain ticket isn't worth advertising on its own, especially in a $141,978-median-income community</a:t>
            </a:r>
          </a:p>
          <a:p>
            <a:pPr>
              <a:spcAft>
                <a:spcPts val="800"/>
              </a:spcAft>
            </a:pPr>
            <a:r>
              <a:rPr sz="1200">
                <a:solidFill>
                  <a:srgbClr val="2B2B2B"/>
                </a:solidFill>
              </a:rPr>
              <a:t>• The opportunity isn't a bigger raffle. It's turning the ticket into a way to experience the specialty businesses that already define Queen Creek</a:t>
            </a:r>
          </a:p>
        </p:txBody>
      </p:sp>
      <p:sp>
        <p:nvSpPr>
          <p:cNvPr id="15" name="Rectangle 14"/>
          <p:cNvSpPr/>
          <p:nvPr/>
        </p:nvSpPr>
        <p:spPr>
          <a:xfrm>
            <a:off x="4178807" y="2176272"/>
            <a:ext cx="3657600" cy="347472"/>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88536" y="2203704"/>
            <a:ext cx="3474720" cy="292608"/>
          </a:xfrm>
          <a:prstGeom prst="rect">
            <a:avLst/>
          </a:prstGeom>
          <a:noFill/>
        </p:spPr>
        <p:txBody>
          <a:bodyPr wrap="square">
            <a:spAutoFit/>
          </a:bodyPr>
          <a:lstStyle/>
          <a:p>
            <a:pPr algn="l"/>
            <a:r>
              <a:rPr sz="1100" b="1" i="0">
                <a:solidFill>
                  <a:srgbClr val="D4A017"/>
                </a:solidFill>
              </a:rPr>
              <a:t>FINDING 2</a:t>
            </a:r>
          </a:p>
        </p:txBody>
      </p:sp>
      <p:sp>
        <p:nvSpPr>
          <p:cNvPr id="17" name="Rectangle 16"/>
          <p:cNvSpPr/>
          <p:nvPr/>
        </p:nvSpPr>
        <p:spPr>
          <a:xfrm>
            <a:off x="4178807" y="2523744"/>
            <a:ext cx="3657600" cy="54864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88536" y="2560320"/>
            <a:ext cx="3474720" cy="475488"/>
          </a:xfrm>
          <a:prstGeom prst="rect">
            <a:avLst/>
          </a:prstGeom>
          <a:noFill/>
        </p:spPr>
        <p:txBody>
          <a:bodyPr wrap="square">
            <a:spAutoFit/>
          </a:bodyPr>
          <a:lstStyle/>
          <a:p>
            <a:pPr algn="l"/>
            <a:r>
              <a:rPr sz="1400" b="1" i="0">
                <a:solidFill>
                  <a:srgbClr val="2B2B2B"/>
                </a:solidFill>
              </a:rPr>
              <a:t>The Connections Are Missing, Not the Content</a:t>
            </a:r>
          </a:p>
        </p:txBody>
      </p:sp>
      <p:sp>
        <p:nvSpPr>
          <p:cNvPr id="19" name="Rectangle 18"/>
          <p:cNvSpPr/>
          <p:nvPr/>
        </p:nvSpPr>
        <p:spPr>
          <a:xfrm>
            <a:off x="4178807" y="3072384"/>
            <a:ext cx="36576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15968" y="3200400"/>
            <a:ext cx="3429000" cy="2423160"/>
          </a:xfrm>
          <a:prstGeom prst="rect">
            <a:avLst/>
          </a:prstGeom>
          <a:noFill/>
        </p:spPr>
        <p:txBody>
          <a:bodyPr wrap="square">
            <a:spAutoFit/>
          </a:bodyPr>
          <a:lstStyle/>
          <a:p>
            <a:pPr>
              <a:spcAft>
                <a:spcPts val="800"/>
              </a:spcAft>
            </a:pPr>
            <a:r>
              <a:rPr sz="1200">
                <a:solidFill>
                  <a:srgbClr val="2B2B2B"/>
                </a:solidFill>
              </a:rPr>
              <a:t>• Egg hunts, races, Play Zone, EggScape, and Color Blast are each strong on their own</a:t>
            </a:r>
          </a:p>
          <a:p>
            <a:pPr>
              <a:spcAft>
                <a:spcPts val="800"/>
              </a:spcAft>
            </a:pPr>
            <a:r>
              <a:rPr sz="1200">
                <a:solidFill>
                  <a:srgbClr val="2B2B2B"/>
                </a:solidFill>
              </a:rPr>
              <a:t>• Fields are intentionally spaced apart for crowd flow, and that's correct, not the problem</a:t>
            </a:r>
          </a:p>
          <a:p>
            <a:pPr>
              <a:spcAft>
                <a:spcPts val="800"/>
              </a:spcAft>
            </a:pPr>
            <a:r>
              <a:rPr sz="1200">
                <a:solidFill>
                  <a:srgbClr val="2B2B2B"/>
                </a:solidFill>
              </a:rPr>
              <a:t>• What's missing is a shared identity and staff who actively point families to what's next</a:t>
            </a:r>
          </a:p>
        </p:txBody>
      </p:sp>
      <p:sp>
        <p:nvSpPr>
          <p:cNvPr id="21" name="Rectangle 20"/>
          <p:cNvSpPr/>
          <p:nvPr/>
        </p:nvSpPr>
        <p:spPr>
          <a:xfrm>
            <a:off x="8037575" y="2176272"/>
            <a:ext cx="3657600" cy="347472"/>
          </a:xfrm>
          <a:prstGeom prst="rect">
            <a:avLst/>
          </a:prstGeom>
          <a:solidFill>
            <a:srgbClr val="5D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47303" y="2203704"/>
            <a:ext cx="3474720" cy="292608"/>
          </a:xfrm>
          <a:prstGeom prst="rect">
            <a:avLst/>
          </a:prstGeom>
          <a:noFill/>
        </p:spPr>
        <p:txBody>
          <a:bodyPr wrap="square">
            <a:spAutoFit/>
          </a:bodyPr>
          <a:lstStyle/>
          <a:p>
            <a:pPr algn="l"/>
            <a:r>
              <a:rPr sz="1100" b="1" i="0">
                <a:solidFill>
                  <a:srgbClr val="D4A017"/>
                </a:solidFill>
              </a:rPr>
              <a:t>FINDING 3</a:t>
            </a:r>
          </a:p>
        </p:txBody>
      </p:sp>
      <p:sp>
        <p:nvSpPr>
          <p:cNvPr id="23" name="Rectangle 22"/>
          <p:cNvSpPr/>
          <p:nvPr/>
        </p:nvSpPr>
        <p:spPr>
          <a:xfrm>
            <a:off x="8037575" y="2523744"/>
            <a:ext cx="3657600" cy="54864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47303" y="2560320"/>
            <a:ext cx="3474720" cy="475488"/>
          </a:xfrm>
          <a:prstGeom prst="rect">
            <a:avLst/>
          </a:prstGeom>
          <a:noFill/>
        </p:spPr>
        <p:txBody>
          <a:bodyPr wrap="square">
            <a:spAutoFit/>
          </a:bodyPr>
          <a:lstStyle/>
          <a:p>
            <a:pPr algn="l"/>
            <a:r>
              <a:rPr sz="1400" b="1" i="0">
                <a:solidFill>
                  <a:srgbClr val="2B2B2B"/>
                </a:solidFill>
              </a:rPr>
              <a:t>The Post-Hunt Moment Is Unclaimed</a:t>
            </a:r>
          </a:p>
        </p:txBody>
      </p:sp>
      <p:sp>
        <p:nvSpPr>
          <p:cNvPr id="25" name="Rectangle 24"/>
          <p:cNvSpPr/>
          <p:nvPr/>
        </p:nvSpPr>
        <p:spPr>
          <a:xfrm>
            <a:off x="8037575" y="3072384"/>
            <a:ext cx="3657600" cy="2651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4736" y="3200400"/>
            <a:ext cx="3429000" cy="2423160"/>
          </a:xfrm>
          <a:prstGeom prst="rect">
            <a:avLst/>
          </a:prstGeom>
          <a:noFill/>
        </p:spPr>
        <p:txBody>
          <a:bodyPr wrap="square">
            <a:spAutoFit/>
          </a:bodyPr>
          <a:lstStyle/>
          <a:p>
            <a:pPr>
              <a:spcAft>
                <a:spcPts val="800"/>
              </a:spcAft>
            </a:pPr>
            <a:r>
              <a:rPr sz="1200">
                <a:solidFill>
                  <a:srgbClr val="2B2B2B"/>
                </a:solidFill>
              </a:rPr>
              <a:t>• Egg hunts are already well-staggered by age group, 9:30 AM – 12:30 PM</a:t>
            </a:r>
          </a:p>
          <a:p>
            <a:pPr>
              <a:spcAft>
                <a:spcPts val="800"/>
              </a:spcAft>
            </a:pPr>
            <a:r>
              <a:rPr sz="1200">
                <a:solidFill>
                  <a:srgbClr val="2B2B2B"/>
                </a:solidFill>
              </a:rPr>
              <a:t>• But nothing happens in the moment right after a family's hunt ends</a:t>
            </a:r>
          </a:p>
          <a:p>
            <a:pPr>
              <a:spcAft>
                <a:spcPts val="800"/>
              </a:spcAft>
            </a:pPr>
            <a:r>
              <a:rPr sz="1200">
                <a:solidFill>
                  <a:srgbClr val="2B2B2B"/>
                </a:solidFill>
              </a:rPr>
              <a:t>• No photo, no signal for what's next, so the default is to walk to the car</a:t>
            </a:r>
          </a:p>
        </p:txBody>
      </p:sp>
      <p:sp>
        <p:nvSpPr>
          <p:cNvPr id="27" name="TextBox 26"/>
          <p:cNvSpPr txBox="1"/>
          <p:nvPr/>
        </p:nvSpPr>
        <p:spPr>
          <a:xfrm>
            <a:off x="320040" y="5943600"/>
            <a:ext cx="11521440" cy="365760"/>
          </a:xfrm>
          <a:prstGeom prst="rect">
            <a:avLst/>
          </a:prstGeom>
          <a:noFill/>
        </p:spPr>
        <p:txBody>
          <a:bodyPr wrap="square">
            <a:spAutoFit/>
          </a:bodyPr>
          <a:lstStyle/>
          <a:p>
            <a:pPr algn="ctr"/>
            <a:r>
              <a:rPr sz="1200" b="1" i="0">
                <a:solidFill>
                  <a:srgbClr val="1A5C38"/>
                </a:solidFill>
              </a:rPr>
              <a:t>All three point to the same fix: the elements are already strong, they just aren't talking to each other.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What This Is Built On</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Confirmed From Public Sources, Assumptions Stated Plainly</a:t>
            </a:r>
          </a:p>
        </p:txBody>
      </p:sp>
      <p:sp>
        <p:nvSpPr>
          <p:cNvPr id="7" name="Rectangle 6"/>
          <p:cNvSpPr/>
          <p:nvPr/>
        </p:nvSpPr>
        <p:spPr>
          <a:xfrm>
            <a:off x="320040" y="1463040"/>
            <a:ext cx="5486400" cy="41148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08760"/>
            <a:ext cx="5212080" cy="338328"/>
          </a:xfrm>
          <a:prstGeom prst="rect">
            <a:avLst/>
          </a:prstGeom>
          <a:noFill/>
        </p:spPr>
        <p:txBody>
          <a:bodyPr wrap="square">
            <a:spAutoFit/>
          </a:bodyPr>
          <a:lstStyle/>
          <a:p>
            <a:pPr algn="l"/>
            <a:r>
              <a:rPr sz="1300" b="1" i="0">
                <a:solidFill>
                  <a:srgbClr val="FFFFFF"/>
                </a:solidFill>
              </a:rPr>
              <a:t>CONFIRMED</a:t>
            </a:r>
          </a:p>
        </p:txBody>
      </p:sp>
      <p:sp>
        <p:nvSpPr>
          <p:cNvPr id="9" name="Rectangle 8"/>
          <p:cNvSpPr/>
          <p:nvPr/>
        </p:nvSpPr>
        <p:spPr>
          <a:xfrm>
            <a:off x="320040" y="1874519"/>
            <a:ext cx="548640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057400"/>
            <a:ext cx="5120640" cy="502920"/>
          </a:xfrm>
          <a:prstGeom prst="rect">
            <a:avLst/>
          </a:prstGeom>
          <a:noFill/>
        </p:spPr>
        <p:txBody>
          <a:bodyPr wrap="square">
            <a:spAutoFit/>
          </a:bodyPr>
          <a:lstStyle/>
          <a:p>
            <a:pPr algn="l"/>
            <a:r>
              <a:rPr sz="1250" b="0" i="0">
                <a:solidFill>
                  <a:srgbClr val="2B2B2B"/>
                </a:solidFill>
              </a:rPr>
              <a:t>• Annual March event at Frontier Family Park, 9 AM – 1 PM</a:t>
            </a:r>
          </a:p>
        </p:txBody>
      </p:sp>
      <p:sp>
        <p:nvSpPr>
          <p:cNvPr id="11" name="TextBox 10"/>
          <p:cNvSpPr txBox="1"/>
          <p:nvPr/>
        </p:nvSpPr>
        <p:spPr>
          <a:xfrm>
            <a:off x="502920" y="2624328"/>
            <a:ext cx="5120640" cy="502920"/>
          </a:xfrm>
          <a:prstGeom prst="rect">
            <a:avLst/>
          </a:prstGeom>
          <a:noFill/>
        </p:spPr>
        <p:txBody>
          <a:bodyPr wrap="square">
            <a:spAutoFit/>
          </a:bodyPr>
          <a:lstStyle/>
          <a:p>
            <a:pPr algn="l"/>
            <a:r>
              <a:rPr sz="1250" b="0" i="0">
                <a:solidFill>
                  <a:srgbClr val="2B2B2B"/>
                </a:solidFill>
              </a:rPr>
              <a:t>• Egg hunts staggered by age group, 9:30 AM – 12:30 PM</a:t>
            </a:r>
          </a:p>
        </p:txBody>
      </p:sp>
      <p:sp>
        <p:nvSpPr>
          <p:cNvPr id="12" name="TextBox 11"/>
          <p:cNvSpPr txBox="1"/>
          <p:nvPr/>
        </p:nvSpPr>
        <p:spPr>
          <a:xfrm>
            <a:off x="502920" y="3191256"/>
            <a:ext cx="5120640" cy="502920"/>
          </a:xfrm>
          <a:prstGeom prst="rect">
            <a:avLst/>
          </a:prstGeom>
          <a:noFill/>
        </p:spPr>
        <p:txBody>
          <a:bodyPr wrap="square">
            <a:spAutoFit/>
          </a:bodyPr>
          <a:lstStyle/>
          <a:p>
            <a:pPr algn="l"/>
            <a:r>
              <a:rPr sz="1250" b="0" i="0">
                <a:solidFill>
                  <a:srgbClr val="2B2B2B"/>
                </a:solidFill>
              </a:rPr>
              <a:t>• Animal races: 5 heats from 10 AM, existing raffle-ticket mechanic</a:t>
            </a:r>
          </a:p>
        </p:txBody>
      </p:sp>
      <p:sp>
        <p:nvSpPr>
          <p:cNvPr id="13" name="TextBox 12"/>
          <p:cNvSpPr txBox="1"/>
          <p:nvPr/>
        </p:nvSpPr>
        <p:spPr>
          <a:xfrm>
            <a:off x="502920" y="3758184"/>
            <a:ext cx="5120640" cy="502920"/>
          </a:xfrm>
          <a:prstGeom prst="rect">
            <a:avLst/>
          </a:prstGeom>
          <a:noFill/>
        </p:spPr>
        <p:txBody>
          <a:bodyPr wrap="square">
            <a:spAutoFit/>
          </a:bodyPr>
          <a:lstStyle/>
          <a:p>
            <a:pPr algn="l"/>
            <a:r>
              <a:rPr sz="1250" b="0" i="0">
                <a:solidFill>
                  <a:srgbClr val="2B2B2B"/>
                </a:solidFill>
              </a:rPr>
              <a:t>• 3,500+ attendees at the most recent event</a:t>
            </a:r>
          </a:p>
        </p:txBody>
      </p:sp>
      <p:sp>
        <p:nvSpPr>
          <p:cNvPr id="14" name="TextBox 13"/>
          <p:cNvSpPr txBox="1"/>
          <p:nvPr/>
        </p:nvSpPr>
        <p:spPr>
          <a:xfrm>
            <a:off x="502920" y="4325112"/>
            <a:ext cx="5120640" cy="502920"/>
          </a:xfrm>
          <a:prstGeom prst="rect">
            <a:avLst/>
          </a:prstGeom>
          <a:noFill/>
        </p:spPr>
        <p:txBody>
          <a:bodyPr wrap="square">
            <a:spAutoFit/>
          </a:bodyPr>
          <a:lstStyle/>
          <a:p>
            <a:pPr algn="l"/>
            <a:r>
              <a:rPr sz="1250" b="0" i="0">
                <a:solidFill>
                  <a:srgbClr val="2B2B2B"/>
                </a:solidFill>
              </a:rPr>
              <a:t>• Vendor booths are 10'×10', fees $75–$125</a:t>
            </a:r>
          </a:p>
        </p:txBody>
      </p:sp>
      <p:sp>
        <p:nvSpPr>
          <p:cNvPr id="15" name="TextBox 14"/>
          <p:cNvSpPr txBox="1"/>
          <p:nvPr/>
        </p:nvSpPr>
        <p:spPr>
          <a:xfrm>
            <a:off x="502920" y="4892040"/>
            <a:ext cx="5120640" cy="502920"/>
          </a:xfrm>
          <a:prstGeom prst="rect">
            <a:avLst/>
          </a:prstGeom>
          <a:noFill/>
        </p:spPr>
        <p:txBody>
          <a:bodyPr wrap="square">
            <a:spAutoFit/>
          </a:bodyPr>
          <a:lstStyle/>
          <a:p>
            <a:pPr algn="l"/>
            <a:r>
              <a:rPr sz="1250" b="0" i="0">
                <a:solidFill>
                  <a:srgbClr val="2B2B2B"/>
                </a:solidFill>
              </a:rPr>
              <a:t>• Median household income $141,978; 90% homeownership</a:t>
            </a:r>
          </a:p>
        </p:txBody>
      </p:sp>
      <p:sp>
        <p:nvSpPr>
          <p:cNvPr id="16" name="Rectangle 15"/>
          <p:cNvSpPr/>
          <p:nvPr/>
        </p:nvSpPr>
        <p:spPr>
          <a:xfrm>
            <a:off x="6080760" y="1463040"/>
            <a:ext cx="5806440" cy="411480"/>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508760"/>
            <a:ext cx="5532120" cy="338328"/>
          </a:xfrm>
          <a:prstGeom prst="rect">
            <a:avLst/>
          </a:prstGeom>
          <a:noFill/>
        </p:spPr>
        <p:txBody>
          <a:bodyPr wrap="square">
            <a:spAutoFit/>
          </a:bodyPr>
          <a:lstStyle/>
          <a:p>
            <a:pPr algn="l"/>
            <a:r>
              <a:rPr sz="1300" b="1" i="0">
                <a:solidFill>
                  <a:srgbClr val="FFFFFF"/>
                </a:solidFill>
              </a:rPr>
              <a:t>BUILT ON THESE ASSUMPTIONS</a:t>
            </a:r>
          </a:p>
        </p:txBody>
      </p:sp>
      <p:sp>
        <p:nvSpPr>
          <p:cNvPr id="18" name="Rectangle 17"/>
          <p:cNvSpPr/>
          <p:nvPr/>
        </p:nvSpPr>
        <p:spPr>
          <a:xfrm>
            <a:off x="6080760" y="1874519"/>
            <a:ext cx="580644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2057400"/>
            <a:ext cx="5394960" cy="1051560"/>
          </a:xfrm>
          <a:prstGeom prst="rect">
            <a:avLst/>
          </a:prstGeom>
          <a:noFill/>
        </p:spPr>
        <p:txBody>
          <a:bodyPr wrap="square">
            <a:spAutoFit/>
          </a:bodyPr>
          <a:lstStyle/>
          <a:p>
            <a:pPr algn="l"/>
            <a:r>
              <a:rPr sz="1250" b="0" i="0">
                <a:solidFill>
                  <a:srgbClr val="2B2B2B"/>
                </a:solidFill>
              </a:rPr>
              <a:t>• No raffle prize or drawing is publicized, treated here as a real gap, not an oversight by the Town's team</a:t>
            </a:r>
          </a:p>
        </p:txBody>
      </p:sp>
      <p:sp>
        <p:nvSpPr>
          <p:cNvPr id="20" name="TextBox 19"/>
          <p:cNvSpPr txBox="1"/>
          <p:nvPr/>
        </p:nvSpPr>
        <p:spPr>
          <a:xfrm>
            <a:off x="6217920" y="3227832"/>
            <a:ext cx="5394960" cy="1051560"/>
          </a:xfrm>
          <a:prstGeom prst="rect">
            <a:avLst/>
          </a:prstGeom>
          <a:noFill/>
        </p:spPr>
        <p:txBody>
          <a:bodyPr wrap="square">
            <a:spAutoFit/>
          </a:bodyPr>
          <a:lstStyle/>
          <a:p>
            <a:pPr algn="l"/>
            <a:r>
              <a:rPr sz="1250" b="0" i="0">
                <a:solidFill>
                  <a:srgbClr val="2B2B2B"/>
                </a:solidFill>
              </a:rPr>
              <a:t>• On-site activity flow isn't publicly documented. This proposal assumes it matches what's marketed: strong activities, not sequenced together</a:t>
            </a:r>
          </a:p>
        </p:txBody>
      </p:sp>
      <p:sp>
        <p:nvSpPr>
          <p:cNvPr id="21" name="TextBox 20"/>
          <p:cNvSpPr txBox="1"/>
          <p:nvPr/>
        </p:nvSpPr>
        <p:spPr>
          <a:xfrm>
            <a:off x="6217920" y="4398264"/>
            <a:ext cx="5394960" cy="1051560"/>
          </a:xfrm>
          <a:prstGeom prst="rect">
            <a:avLst/>
          </a:prstGeom>
          <a:noFill/>
        </p:spPr>
        <p:txBody>
          <a:bodyPr wrap="square">
            <a:spAutoFit/>
          </a:bodyPr>
          <a:lstStyle/>
          <a:p>
            <a:pPr algn="l"/>
            <a:r>
              <a:rPr sz="1250" b="0" i="0">
                <a:solidFill>
                  <a:srgbClr val="2B2B2B"/>
                </a:solidFill>
              </a:rPr>
              <a:t>• Family departure timing isn't tracked. The post-hunt moment is drawn from the Town's own problem statement, not measured data</a:t>
            </a:r>
          </a:p>
        </p:txBody>
      </p:sp>
      <p:sp>
        <p:nvSpPr>
          <p:cNvPr id="22" name="Rectangle 21"/>
          <p:cNvSpPr/>
          <p:nvPr/>
        </p:nvSpPr>
        <p:spPr>
          <a:xfrm>
            <a:off x="320040" y="5806440"/>
            <a:ext cx="11521440" cy="777240"/>
          </a:xfrm>
          <a:prstGeom prst="rect">
            <a:avLst/>
          </a:prstGeom>
          <a:solidFill>
            <a:srgbClr val="FDF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5897880"/>
            <a:ext cx="11155680" cy="594360"/>
          </a:xfrm>
          <a:prstGeom prst="rect">
            <a:avLst/>
          </a:prstGeom>
          <a:noFill/>
        </p:spPr>
        <p:txBody>
          <a:bodyPr wrap="square">
            <a:spAutoFit/>
          </a:bodyPr>
          <a:lstStyle/>
          <a:p>
            <a:pPr algn="ctr"/>
            <a:r>
              <a:rPr sz="1200" b="0" i="1">
                <a:solidFill>
                  <a:srgbClr val="7A5500"/>
                </a:solidFill>
              </a:rPr>
              <a:t>We don't yet know the specific reasons families leave early. A formalized feedback step, building on the QR-code survey method the Town already uses, is a natural next step beyond this proposal.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The Recommendation</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Three Strategies, Built on What Already Works</a:t>
            </a:r>
          </a:p>
        </p:txBody>
      </p:sp>
      <p:sp>
        <p:nvSpPr>
          <p:cNvPr id="7" name="Rectangle 6"/>
          <p:cNvSpPr/>
          <p:nvPr/>
        </p:nvSpPr>
        <p:spPr>
          <a:xfrm>
            <a:off x="320040" y="1417320"/>
            <a:ext cx="115214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81328"/>
            <a:ext cx="11155680" cy="502920"/>
          </a:xfrm>
          <a:prstGeom prst="rect">
            <a:avLst/>
          </a:prstGeom>
          <a:noFill/>
        </p:spPr>
        <p:txBody>
          <a:bodyPr wrap="square">
            <a:spAutoFit/>
          </a:bodyPr>
          <a:lstStyle/>
          <a:p>
            <a:pPr algn="ctr"/>
            <a:r>
              <a:rPr sz="1350" b="0" i="1">
                <a:solidFill>
                  <a:srgbClr val="1A5C38"/>
                </a:solidFill>
              </a:rPr>
              <a:t>Spring Into QC doesn't need more programming. It needs a reason worth winning, one moment claimed right after the hunt, and staff who turn that momentum into exploring everything else.</a:t>
            </a:r>
          </a:p>
        </p:txBody>
      </p:sp>
      <p:sp>
        <p:nvSpPr>
          <p:cNvPr id="9" name="Rectangle 8"/>
          <p:cNvSpPr/>
          <p:nvPr/>
        </p:nvSpPr>
        <p:spPr>
          <a:xfrm>
            <a:off x="320040" y="2148840"/>
            <a:ext cx="3657600" cy="36576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94560"/>
            <a:ext cx="3429000" cy="274320"/>
          </a:xfrm>
          <a:prstGeom prst="rect">
            <a:avLst/>
          </a:prstGeom>
          <a:noFill/>
        </p:spPr>
        <p:txBody>
          <a:bodyPr wrap="square">
            <a:spAutoFit/>
          </a:bodyPr>
          <a:lstStyle/>
          <a:p>
            <a:pPr algn="l"/>
            <a:r>
              <a:rPr sz="1150" b="1" i="0">
                <a:solidFill>
                  <a:srgbClr val="D4A017"/>
                </a:solidFill>
              </a:rPr>
              <a:t>STRATEGY 1</a:t>
            </a:r>
          </a:p>
        </p:txBody>
      </p:sp>
      <p:sp>
        <p:nvSpPr>
          <p:cNvPr id="11" name="Rectangle 10"/>
          <p:cNvSpPr/>
          <p:nvPr/>
        </p:nvSpPr>
        <p:spPr>
          <a:xfrm>
            <a:off x="320040" y="2514600"/>
            <a:ext cx="3657600" cy="3520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651760"/>
            <a:ext cx="3383280" cy="685800"/>
          </a:xfrm>
          <a:prstGeom prst="rect">
            <a:avLst/>
          </a:prstGeom>
          <a:noFill/>
        </p:spPr>
        <p:txBody>
          <a:bodyPr wrap="square">
            <a:spAutoFit/>
          </a:bodyPr>
          <a:lstStyle/>
          <a:p>
            <a:pPr algn="l"/>
            <a:r>
              <a:rPr sz="1600" b="1" i="0">
                <a:solidFill>
                  <a:srgbClr val="2B2B2B"/>
                </a:solidFill>
              </a:rPr>
              <a:t>Strengthen Local Partnerships</a:t>
            </a:r>
          </a:p>
        </p:txBody>
      </p:sp>
      <p:sp>
        <p:nvSpPr>
          <p:cNvPr id="13" name="TextBox 12"/>
          <p:cNvSpPr txBox="1"/>
          <p:nvPr/>
        </p:nvSpPr>
        <p:spPr>
          <a:xfrm>
            <a:off x="457200" y="3337560"/>
            <a:ext cx="3383280" cy="2606040"/>
          </a:xfrm>
          <a:prstGeom prst="rect">
            <a:avLst/>
          </a:prstGeom>
          <a:noFill/>
        </p:spPr>
        <p:txBody>
          <a:bodyPr wrap="square">
            <a:spAutoFit/>
          </a:bodyPr>
          <a:lstStyle/>
          <a:p>
            <a:pPr algn="l"/>
            <a:r>
              <a:rPr sz="1200" b="0" i="0">
                <a:solidFill>
                  <a:srgbClr val="555555"/>
                </a:solidFill>
              </a:rPr>
              <a:t>Turn the raffle into something worth entering. Multiple local businesses contribute to one prize pool each year, and a new in-hunt mechanic grows how many tickets families can earn.</a:t>
            </a:r>
          </a:p>
        </p:txBody>
      </p:sp>
      <p:sp>
        <p:nvSpPr>
          <p:cNvPr id="14" name="Rectangle 13"/>
          <p:cNvSpPr/>
          <p:nvPr/>
        </p:nvSpPr>
        <p:spPr>
          <a:xfrm>
            <a:off x="4251959" y="2148840"/>
            <a:ext cx="3657600" cy="365760"/>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2194560"/>
            <a:ext cx="3429000" cy="274320"/>
          </a:xfrm>
          <a:prstGeom prst="rect">
            <a:avLst/>
          </a:prstGeom>
          <a:noFill/>
        </p:spPr>
        <p:txBody>
          <a:bodyPr wrap="square">
            <a:spAutoFit/>
          </a:bodyPr>
          <a:lstStyle/>
          <a:p>
            <a:pPr algn="l"/>
            <a:r>
              <a:rPr sz="1150" b="1" i="0">
                <a:solidFill>
                  <a:srgbClr val="D4A017"/>
                </a:solidFill>
              </a:rPr>
              <a:t>STRATEGY 2</a:t>
            </a:r>
          </a:p>
        </p:txBody>
      </p:sp>
      <p:sp>
        <p:nvSpPr>
          <p:cNvPr id="16" name="Rectangle 15"/>
          <p:cNvSpPr/>
          <p:nvPr/>
        </p:nvSpPr>
        <p:spPr>
          <a:xfrm>
            <a:off x="4251959" y="2514600"/>
            <a:ext cx="3657600" cy="3520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651760"/>
            <a:ext cx="3383280" cy="685800"/>
          </a:xfrm>
          <a:prstGeom prst="rect">
            <a:avLst/>
          </a:prstGeom>
          <a:noFill/>
        </p:spPr>
        <p:txBody>
          <a:bodyPr wrap="square">
            <a:spAutoFit/>
          </a:bodyPr>
          <a:lstStyle/>
          <a:p>
            <a:pPr algn="l"/>
            <a:r>
              <a:rPr sz="1600" b="1" i="0">
                <a:solidFill>
                  <a:srgbClr val="2B2B2B"/>
                </a:solidFill>
              </a:rPr>
              <a:t>Claim the Post-Hunt Moment</a:t>
            </a:r>
          </a:p>
        </p:txBody>
      </p:sp>
      <p:sp>
        <p:nvSpPr>
          <p:cNvPr id="18" name="TextBox 17"/>
          <p:cNvSpPr txBox="1"/>
          <p:nvPr/>
        </p:nvSpPr>
        <p:spPr>
          <a:xfrm>
            <a:off x="4389120" y="3337560"/>
            <a:ext cx="3383280" cy="2606040"/>
          </a:xfrm>
          <a:prstGeom prst="rect">
            <a:avLst/>
          </a:prstGeom>
          <a:noFill/>
        </p:spPr>
        <p:txBody>
          <a:bodyPr wrap="square">
            <a:spAutoFit/>
          </a:bodyPr>
          <a:lstStyle/>
          <a:p>
            <a:pPr algn="l"/>
            <a:r>
              <a:rPr sz="1200" b="0" i="0">
                <a:solidFill>
                  <a:srgbClr val="555555"/>
                </a:solidFill>
              </a:rPr>
              <a:t>Give families a reason to stay right after their hunt ends, by making them realize the Silver Egg in their bucket is a live ticket to a prize that's genuinely Queen Creek's own.</a:t>
            </a:r>
          </a:p>
        </p:txBody>
      </p:sp>
      <p:sp>
        <p:nvSpPr>
          <p:cNvPr id="19" name="Rectangle 18"/>
          <p:cNvSpPr/>
          <p:nvPr/>
        </p:nvSpPr>
        <p:spPr>
          <a:xfrm>
            <a:off x="8183879" y="2148840"/>
            <a:ext cx="3657600" cy="365760"/>
          </a:xfrm>
          <a:prstGeom prst="rect">
            <a:avLst/>
          </a:prstGeom>
          <a:solidFill>
            <a:srgbClr val="5D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194560"/>
            <a:ext cx="3429000" cy="274320"/>
          </a:xfrm>
          <a:prstGeom prst="rect">
            <a:avLst/>
          </a:prstGeom>
          <a:noFill/>
        </p:spPr>
        <p:txBody>
          <a:bodyPr wrap="square">
            <a:spAutoFit/>
          </a:bodyPr>
          <a:lstStyle/>
          <a:p>
            <a:pPr algn="l"/>
            <a:r>
              <a:rPr sz="1150" b="1" i="0">
                <a:solidFill>
                  <a:srgbClr val="D4A017"/>
                </a:solidFill>
              </a:rPr>
              <a:t>STRATEGY 3</a:t>
            </a:r>
          </a:p>
        </p:txBody>
      </p:sp>
      <p:sp>
        <p:nvSpPr>
          <p:cNvPr id="21" name="Rectangle 20"/>
          <p:cNvSpPr/>
          <p:nvPr/>
        </p:nvSpPr>
        <p:spPr>
          <a:xfrm>
            <a:off x="8183879" y="2514600"/>
            <a:ext cx="3657600" cy="3520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2651760"/>
            <a:ext cx="3383280" cy="685800"/>
          </a:xfrm>
          <a:prstGeom prst="rect">
            <a:avLst/>
          </a:prstGeom>
          <a:noFill/>
        </p:spPr>
        <p:txBody>
          <a:bodyPr wrap="square">
            <a:spAutoFit/>
          </a:bodyPr>
          <a:lstStyle/>
          <a:p>
            <a:pPr algn="l"/>
            <a:r>
              <a:rPr sz="1600" b="1" i="0">
                <a:solidFill>
                  <a:srgbClr val="2B2B2B"/>
                </a:solidFill>
              </a:rPr>
              <a:t>Strengthen Connectivity Through Staff</a:t>
            </a:r>
          </a:p>
        </p:txBody>
      </p:sp>
      <p:sp>
        <p:nvSpPr>
          <p:cNvPr id="23" name="TextBox 22"/>
          <p:cNvSpPr txBox="1"/>
          <p:nvPr/>
        </p:nvSpPr>
        <p:spPr>
          <a:xfrm>
            <a:off x="8321040" y="3337560"/>
            <a:ext cx="3383280" cy="2606040"/>
          </a:xfrm>
          <a:prstGeom prst="rect">
            <a:avLst/>
          </a:prstGeom>
          <a:noFill/>
        </p:spPr>
        <p:txBody>
          <a:bodyPr wrap="square">
            <a:spAutoFit/>
          </a:bodyPr>
          <a:lstStyle/>
          <a:p>
            <a:pPr algn="l"/>
            <a:r>
              <a:rPr sz="1200" b="0" i="0">
                <a:solidFill>
                  <a:srgbClr val="555555"/>
                </a:solidFill>
              </a:rPr>
              <a:t>Turn that excitement into momentum. Staff use the ticket as the opening line to point families toward everything else the site has to offer, using the walkway that already connects every field.</a:t>
            </a:r>
          </a:p>
        </p:txBody>
      </p:sp>
      <p:sp>
        <p:nvSpPr>
          <p:cNvPr id="24" name="TextBox 23"/>
          <p:cNvSpPr txBox="1"/>
          <p:nvPr/>
        </p:nvSpPr>
        <p:spPr>
          <a:xfrm>
            <a:off x="320040" y="6172200"/>
            <a:ext cx="11521440" cy="365760"/>
          </a:xfrm>
          <a:prstGeom prst="rect">
            <a:avLst/>
          </a:prstGeom>
          <a:noFill/>
        </p:spPr>
        <p:txBody>
          <a:bodyPr wrap="square">
            <a:spAutoFit/>
          </a:bodyPr>
          <a:lstStyle/>
          <a:p>
            <a:pPr algn="ctr"/>
            <a:r>
              <a:rPr sz="1100" b="1" i="0">
                <a:solidFill>
                  <a:srgbClr val="1A5C38"/>
                </a:solidFill>
              </a:rPr>
              <a:t>Strategy 1 gives them something worth winning. Strategy 2 gives them a reason to stay for it. Strategy 3 turns that into a reason to explore.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Strategy 1: Strengthen Local Partnerships</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A Raffle Worth Entering, Not a Bigger Raffle</a:t>
            </a:r>
          </a:p>
        </p:txBody>
      </p:sp>
      <p:sp>
        <p:nvSpPr>
          <p:cNvPr id="7" name="Rectangle 6"/>
          <p:cNvSpPr/>
          <p:nvPr/>
        </p:nvSpPr>
        <p:spPr>
          <a:xfrm>
            <a:off x="320040" y="1417320"/>
            <a:ext cx="115214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11247120" cy="411480"/>
          </a:xfrm>
          <a:prstGeom prst="rect">
            <a:avLst/>
          </a:prstGeom>
          <a:noFill/>
        </p:spPr>
        <p:txBody>
          <a:bodyPr wrap="square">
            <a:spAutoFit/>
          </a:bodyPr>
          <a:lstStyle/>
          <a:p>
            <a:pPr algn="ctr"/>
            <a:r>
              <a:rPr sz="1200" b="0" i="1">
                <a:solidFill>
                  <a:srgbClr val="1A5C38"/>
                </a:solidFill>
              </a:rPr>
              <a:t>Not a bigger raffle. A raffle built on real partnerships with the businesses that already define Queen Creek.</a:t>
            </a:r>
          </a:p>
        </p:txBody>
      </p:sp>
      <p:sp>
        <p:nvSpPr>
          <p:cNvPr id="9" name="Rectangle 8"/>
          <p:cNvSpPr/>
          <p:nvPr/>
        </p:nvSpPr>
        <p:spPr>
          <a:xfrm>
            <a:off x="320040" y="2011680"/>
            <a:ext cx="11521440" cy="36576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048256"/>
            <a:ext cx="11247120" cy="310896"/>
          </a:xfrm>
          <a:prstGeom prst="rect">
            <a:avLst/>
          </a:prstGeom>
          <a:noFill/>
        </p:spPr>
        <p:txBody>
          <a:bodyPr wrap="square">
            <a:spAutoFit/>
          </a:bodyPr>
          <a:lstStyle/>
          <a:p>
            <a:pPr algn="ctr"/>
            <a:r>
              <a:rPr sz="1300" b="1" i="0">
                <a:solidFill>
                  <a:srgbClr val="FFFFFF"/>
                </a:solidFill>
              </a:rPr>
              <a:t>COMMUNITY BUSINESS PARTNERSHIPS: One Prize Pool, Built From Queen Creek's Own</a:t>
            </a:r>
          </a:p>
        </p:txBody>
      </p:sp>
      <p:sp>
        <p:nvSpPr>
          <p:cNvPr id="11" name="Rectangle 10"/>
          <p:cNvSpPr/>
          <p:nvPr/>
        </p:nvSpPr>
        <p:spPr>
          <a:xfrm>
            <a:off x="320040"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79" y="2423160"/>
            <a:ext cx="2011679" cy="502920"/>
          </a:xfrm>
          <a:prstGeom prst="rect">
            <a:avLst/>
          </a:prstGeom>
          <a:noFill/>
        </p:spPr>
        <p:txBody>
          <a:bodyPr wrap="square">
            <a:spAutoFit/>
          </a:bodyPr>
          <a:lstStyle/>
          <a:p>
            <a:pPr algn="ctr"/>
            <a:r>
              <a:rPr sz="1150" b="1" i="0">
                <a:solidFill>
                  <a:srgbClr val="1A5C38"/>
                </a:solidFill>
              </a:rPr>
              <a:t>Queen Creek Olive Mill</a:t>
            </a:r>
          </a:p>
        </p:txBody>
      </p:sp>
      <p:sp>
        <p:nvSpPr>
          <p:cNvPr id="14" name="TextBox 13"/>
          <p:cNvSpPr txBox="1"/>
          <p:nvPr/>
        </p:nvSpPr>
        <p:spPr>
          <a:xfrm>
            <a:off x="411479" y="2898648"/>
            <a:ext cx="2011679" cy="457200"/>
          </a:xfrm>
          <a:prstGeom prst="rect">
            <a:avLst/>
          </a:prstGeom>
          <a:noFill/>
        </p:spPr>
        <p:txBody>
          <a:bodyPr wrap="square">
            <a:spAutoFit/>
          </a:bodyPr>
          <a:lstStyle/>
          <a:p>
            <a:pPr algn="ctr"/>
            <a:r>
              <a:rPr sz="950" b="0" i="0">
                <a:solidFill>
                  <a:srgbClr val="555555"/>
                </a:solidFill>
              </a:rPr>
              <a:t>AZ's only working olive mill</a:t>
            </a:r>
          </a:p>
        </p:txBody>
      </p:sp>
      <p:sp>
        <p:nvSpPr>
          <p:cNvPr id="15" name="Rectangle 14"/>
          <p:cNvSpPr/>
          <p:nvPr/>
        </p:nvSpPr>
        <p:spPr>
          <a:xfrm>
            <a:off x="502920"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79" y="3447287"/>
            <a:ext cx="2011679" cy="457200"/>
          </a:xfrm>
          <a:prstGeom prst="rect">
            <a:avLst/>
          </a:prstGeom>
          <a:noFill/>
        </p:spPr>
        <p:txBody>
          <a:bodyPr wrap="square">
            <a:spAutoFit/>
          </a:bodyPr>
          <a:lstStyle/>
          <a:p>
            <a:pPr algn="ctr"/>
            <a:r>
              <a:rPr sz="900" b="0" i="1">
                <a:solidFill>
                  <a:srgbClr val="2B2B2B"/>
                </a:solidFill>
              </a:rPr>
              <a:t>Tasting experience for a family</a:t>
            </a:r>
          </a:p>
        </p:txBody>
      </p:sp>
      <p:sp>
        <p:nvSpPr>
          <p:cNvPr id="17" name="Rectangle 16"/>
          <p:cNvSpPr/>
          <p:nvPr/>
        </p:nvSpPr>
        <p:spPr>
          <a:xfrm>
            <a:off x="2651760"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651760"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0" y="2423160"/>
            <a:ext cx="2011679" cy="502920"/>
          </a:xfrm>
          <a:prstGeom prst="rect">
            <a:avLst/>
          </a:prstGeom>
          <a:noFill/>
        </p:spPr>
        <p:txBody>
          <a:bodyPr wrap="square">
            <a:spAutoFit/>
          </a:bodyPr>
          <a:lstStyle/>
          <a:p>
            <a:pPr algn="ctr"/>
            <a:r>
              <a:rPr sz="1150" b="1" i="0">
                <a:solidFill>
                  <a:srgbClr val="1A5C38"/>
                </a:solidFill>
              </a:rPr>
              <a:t>Schnepf Farms</a:t>
            </a:r>
          </a:p>
        </p:txBody>
      </p:sp>
      <p:sp>
        <p:nvSpPr>
          <p:cNvPr id="20" name="TextBox 19"/>
          <p:cNvSpPr txBox="1"/>
          <p:nvPr/>
        </p:nvSpPr>
        <p:spPr>
          <a:xfrm>
            <a:off x="2743200" y="2898648"/>
            <a:ext cx="2011679" cy="457200"/>
          </a:xfrm>
          <a:prstGeom prst="rect">
            <a:avLst/>
          </a:prstGeom>
          <a:noFill/>
        </p:spPr>
        <p:txBody>
          <a:bodyPr wrap="square">
            <a:spAutoFit/>
          </a:bodyPr>
          <a:lstStyle/>
          <a:p>
            <a:pPr algn="ctr"/>
            <a:r>
              <a:rPr sz="950" b="0" i="0">
                <a:solidFill>
                  <a:srgbClr val="555555"/>
                </a:solidFill>
              </a:rPr>
              <a:t>AZ's largest organic peach grower</a:t>
            </a:r>
          </a:p>
        </p:txBody>
      </p:sp>
      <p:sp>
        <p:nvSpPr>
          <p:cNvPr id="21" name="Rectangle 20"/>
          <p:cNvSpPr/>
          <p:nvPr/>
        </p:nvSpPr>
        <p:spPr>
          <a:xfrm>
            <a:off x="2834640"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3447287"/>
            <a:ext cx="2011679" cy="457200"/>
          </a:xfrm>
          <a:prstGeom prst="rect">
            <a:avLst/>
          </a:prstGeom>
          <a:noFill/>
        </p:spPr>
        <p:txBody>
          <a:bodyPr wrap="square">
            <a:spAutoFit/>
          </a:bodyPr>
          <a:lstStyle/>
          <a:p>
            <a:pPr algn="ctr"/>
            <a:r>
              <a:rPr sz="900" b="0" i="1">
                <a:solidFill>
                  <a:srgbClr val="2B2B2B"/>
                </a:solidFill>
              </a:rPr>
              <a:t>Family day passes</a:t>
            </a:r>
          </a:p>
        </p:txBody>
      </p:sp>
      <p:sp>
        <p:nvSpPr>
          <p:cNvPr id="23" name="Rectangle 22"/>
          <p:cNvSpPr/>
          <p:nvPr/>
        </p:nvSpPr>
        <p:spPr>
          <a:xfrm>
            <a:off x="4983479"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983479"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74919" y="2423160"/>
            <a:ext cx="2011679" cy="502920"/>
          </a:xfrm>
          <a:prstGeom prst="rect">
            <a:avLst/>
          </a:prstGeom>
          <a:noFill/>
        </p:spPr>
        <p:txBody>
          <a:bodyPr wrap="square">
            <a:spAutoFit/>
          </a:bodyPr>
          <a:lstStyle/>
          <a:p>
            <a:pPr algn="ctr"/>
            <a:r>
              <a:rPr sz="1150" b="1" i="0">
                <a:solidFill>
                  <a:srgbClr val="1A5C38"/>
                </a:solidFill>
              </a:rPr>
              <a:t>Sossaman Farms</a:t>
            </a:r>
          </a:p>
        </p:txBody>
      </p:sp>
      <p:sp>
        <p:nvSpPr>
          <p:cNvPr id="26" name="TextBox 25"/>
          <p:cNvSpPr txBox="1"/>
          <p:nvPr/>
        </p:nvSpPr>
        <p:spPr>
          <a:xfrm>
            <a:off x="5074919" y="2898648"/>
            <a:ext cx="2011679" cy="457200"/>
          </a:xfrm>
          <a:prstGeom prst="rect">
            <a:avLst/>
          </a:prstGeom>
          <a:noFill/>
        </p:spPr>
        <p:txBody>
          <a:bodyPr wrap="square">
            <a:spAutoFit/>
          </a:bodyPr>
          <a:lstStyle/>
          <a:p>
            <a:pPr algn="ctr"/>
            <a:r>
              <a:rPr sz="950" b="0" i="0">
                <a:solidFill>
                  <a:srgbClr val="555555"/>
                </a:solidFill>
              </a:rPr>
              <a:t>100+ yrs growing wheat, Hayden Flour Mills</a:t>
            </a:r>
          </a:p>
        </p:txBody>
      </p:sp>
      <p:sp>
        <p:nvSpPr>
          <p:cNvPr id="27" name="Rectangle 26"/>
          <p:cNvSpPr/>
          <p:nvPr/>
        </p:nvSpPr>
        <p:spPr>
          <a:xfrm>
            <a:off x="5166359"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19" y="3447287"/>
            <a:ext cx="2011679" cy="457200"/>
          </a:xfrm>
          <a:prstGeom prst="rect">
            <a:avLst/>
          </a:prstGeom>
          <a:noFill/>
        </p:spPr>
        <p:txBody>
          <a:bodyPr wrap="square">
            <a:spAutoFit/>
          </a:bodyPr>
          <a:lstStyle/>
          <a:p>
            <a:pPr algn="ctr"/>
            <a:r>
              <a:rPr sz="900" b="0" i="1">
                <a:solidFill>
                  <a:srgbClr val="2B2B2B"/>
                </a:solidFill>
              </a:rPr>
              <a:t>Milling &amp; baking experience</a:t>
            </a:r>
          </a:p>
        </p:txBody>
      </p:sp>
      <p:sp>
        <p:nvSpPr>
          <p:cNvPr id="29" name="Rectangle 28"/>
          <p:cNvSpPr/>
          <p:nvPr/>
        </p:nvSpPr>
        <p:spPr>
          <a:xfrm>
            <a:off x="7315199"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15199"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0" y="2423160"/>
            <a:ext cx="2011679" cy="502920"/>
          </a:xfrm>
          <a:prstGeom prst="rect">
            <a:avLst/>
          </a:prstGeom>
          <a:noFill/>
        </p:spPr>
        <p:txBody>
          <a:bodyPr wrap="square">
            <a:spAutoFit/>
          </a:bodyPr>
          <a:lstStyle/>
          <a:p>
            <a:pPr algn="ctr"/>
            <a:r>
              <a:rPr sz="1150" b="1" i="0">
                <a:solidFill>
                  <a:srgbClr val="1A5C38"/>
                </a:solidFill>
              </a:rPr>
              <a:t>Pecan Lake Entertainment</a:t>
            </a:r>
          </a:p>
        </p:txBody>
      </p:sp>
      <p:sp>
        <p:nvSpPr>
          <p:cNvPr id="32" name="TextBox 31"/>
          <p:cNvSpPr txBox="1"/>
          <p:nvPr/>
        </p:nvSpPr>
        <p:spPr>
          <a:xfrm>
            <a:off x="7406640" y="2898648"/>
            <a:ext cx="2011679" cy="457200"/>
          </a:xfrm>
          <a:prstGeom prst="rect">
            <a:avLst/>
          </a:prstGeom>
          <a:noFill/>
        </p:spPr>
        <p:txBody>
          <a:bodyPr wrap="square">
            <a:spAutoFit/>
          </a:bodyPr>
          <a:lstStyle/>
          <a:p>
            <a:pPr algn="ctr"/>
            <a:r>
              <a:rPr sz="950" b="0" i="0">
                <a:solidFill>
                  <a:srgbClr val="555555"/>
                </a:solidFill>
              </a:rPr>
              <a:t>Ropes course, go-karts, mini golf</a:t>
            </a:r>
          </a:p>
        </p:txBody>
      </p:sp>
      <p:sp>
        <p:nvSpPr>
          <p:cNvPr id="33" name="Rectangle 32"/>
          <p:cNvSpPr/>
          <p:nvPr/>
        </p:nvSpPr>
        <p:spPr>
          <a:xfrm>
            <a:off x="7498079"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0" y="3447287"/>
            <a:ext cx="2011679" cy="457200"/>
          </a:xfrm>
          <a:prstGeom prst="rect">
            <a:avLst/>
          </a:prstGeom>
          <a:noFill/>
        </p:spPr>
        <p:txBody>
          <a:bodyPr wrap="square">
            <a:spAutoFit/>
          </a:bodyPr>
          <a:lstStyle/>
          <a:p>
            <a:pPr algn="ctr"/>
            <a:r>
              <a:rPr sz="900" b="0" i="1">
                <a:solidFill>
                  <a:srgbClr val="2B2B2B"/>
                </a:solidFill>
              </a:rPr>
              <a:t>Family activity package</a:t>
            </a:r>
          </a:p>
        </p:txBody>
      </p:sp>
      <p:sp>
        <p:nvSpPr>
          <p:cNvPr id="35" name="Rectangle 34"/>
          <p:cNvSpPr/>
          <p:nvPr/>
        </p:nvSpPr>
        <p:spPr>
          <a:xfrm>
            <a:off x="9646919" y="2331720"/>
            <a:ext cx="2194560" cy="1645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646919" y="2331720"/>
            <a:ext cx="2194560" cy="54864"/>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38359" y="2423160"/>
            <a:ext cx="2011679" cy="502920"/>
          </a:xfrm>
          <a:prstGeom prst="rect">
            <a:avLst/>
          </a:prstGeom>
          <a:noFill/>
        </p:spPr>
        <p:txBody>
          <a:bodyPr wrap="square">
            <a:spAutoFit/>
          </a:bodyPr>
          <a:lstStyle/>
          <a:p>
            <a:pPr algn="ctr"/>
            <a:r>
              <a:rPr sz="1150" b="1" i="0">
                <a:solidFill>
                  <a:srgbClr val="1A5C38"/>
                </a:solidFill>
              </a:rPr>
              <a:t>San Tan Flat</a:t>
            </a:r>
          </a:p>
        </p:txBody>
      </p:sp>
      <p:sp>
        <p:nvSpPr>
          <p:cNvPr id="38" name="TextBox 37"/>
          <p:cNvSpPr txBox="1"/>
          <p:nvPr/>
        </p:nvSpPr>
        <p:spPr>
          <a:xfrm>
            <a:off x="9738359" y="2898648"/>
            <a:ext cx="2011679" cy="457200"/>
          </a:xfrm>
          <a:prstGeom prst="rect">
            <a:avLst/>
          </a:prstGeom>
          <a:noFill/>
        </p:spPr>
        <p:txBody>
          <a:bodyPr wrap="square">
            <a:spAutoFit/>
          </a:bodyPr>
          <a:lstStyle/>
          <a:p>
            <a:pPr algn="ctr"/>
            <a:r>
              <a:rPr sz="950" b="0" i="0">
                <a:solidFill>
                  <a:srgbClr val="555555"/>
                </a:solidFill>
              </a:rPr>
              <a:t>Rustic outdoor steakhouse, live music</a:t>
            </a:r>
          </a:p>
        </p:txBody>
      </p:sp>
      <p:sp>
        <p:nvSpPr>
          <p:cNvPr id="39" name="Rectangle 38"/>
          <p:cNvSpPr/>
          <p:nvPr/>
        </p:nvSpPr>
        <p:spPr>
          <a:xfrm>
            <a:off x="9829799" y="3374135"/>
            <a:ext cx="1828800" cy="18288"/>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738359" y="3447287"/>
            <a:ext cx="2011679" cy="457200"/>
          </a:xfrm>
          <a:prstGeom prst="rect">
            <a:avLst/>
          </a:prstGeom>
          <a:noFill/>
        </p:spPr>
        <p:txBody>
          <a:bodyPr wrap="square">
            <a:spAutoFit/>
          </a:bodyPr>
          <a:lstStyle/>
          <a:p>
            <a:pPr algn="ctr"/>
            <a:r>
              <a:rPr sz="900" b="0" i="1">
                <a:solidFill>
                  <a:srgbClr val="2B2B2B"/>
                </a:solidFill>
              </a:rPr>
              <a:t>Family dinner package</a:t>
            </a:r>
          </a:p>
        </p:txBody>
      </p:sp>
      <p:sp>
        <p:nvSpPr>
          <p:cNvPr id="41" name="TextBox 40"/>
          <p:cNvSpPr txBox="1"/>
          <p:nvPr/>
        </p:nvSpPr>
        <p:spPr>
          <a:xfrm>
            <a:off x="320040" y="4041648"/>
            <a:ext cx="11521440" cy="256032"/>
          </a:xfrm>
          <a:prstGeom prst="rect">
            <a:avLst/>
          </a:prstGeom>
          <a:noFill/>
        </p:spPr>
        <p:txBody>
          <a:bodyPr wrap="square">
            <a:spAutoFit/>
          </a:bodyPr>
          <a:lstStyle/>
          <a:p>
            <a:pPr algn="ctr"/>
            <a:r>
              <a:rPr sz="950" b="0" i="1">
                <a:solidFill>
                  <a:srgbClr val="555555"/>
                </a:solidFill>
              </a:rPr>
              <a:t>Prospective partners, not confirmed commitments. Every business shown contributes each year, not just one.</a:t>
            </a:r>
          </a:p>
        </p:txBody>
      </p:sp>
      <p:sp>
        <p:nvSpPr>
          <p:cNvPr id="42" name="Rectangle 41"/>
          <p:cNvSpPr/>
          <p:nvPr/>
        </p:nvSpPr>
        <p:spPr>
          <a:xfrm>
            <a:off x="320040" y="4370832"/>
            <a:ext cx="5577840" cy="384048"/>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4425696"/>
            <a:ext cx="5394959" cy="320040"/>
          </a:xfrm>
          <a:prstGeom prst="rect">
            <a:avLst/>
          </a:prstGeom>
          <a:noFill/>
        </p:spPr>
        <p:txBody>
          <a:bodyPr wrap="square">
            <a:spAutoFit/>
          </a:bodyPr>
          <a:lstStyle/>
          <a:p>
            <a:pPr algn="l"/>
            <a:r>
              <a:rPr sz="1400" b="1" i="0">
                <a:solidFill>
                  <a:srgbClr val="FFFFFF"/>
                </a:solidFill>
              </a:rPr>
              <a:t>How the Partnership Works</a:t>
            </a:r>
          </a:p>
        </p:txBody>
      </p:sp>
      <p:sp>
        <p:nvSpPr>
          <p:cNvPr id="44" name="TextBox 43"/>
          <p:cNvSpPr txBox="1"/>
          <p:nvPr/>
        </p:nvSpPr>
        <p:spPr>
          <a:xfrm>
            <a:off x="411479" y="4809744"/>
            <a:ext cx="5394959" cy="1581912"/>
          </a:xfrm>
          <a:prstGeom prst="rect">
            <a:avLst/>
          </a:prstGeom>
          <a:noFill/>
        </p:spPr>
        <p:txBody>
          <a:bodyPr wrap="square">
            <a:spAutoFit/>
          </a:bodyPr>
          <a:lstStyle/>
          <a:p>
            <a:pPr>
              <a:spcAft>
                <a:spcPts val="500"/>
              </a:spcAft>
            </a:pPr>
            <a:r>
              <a:rPr sz="1300">
                <a:solidFill>
                  <a:srgbClr val="2B2B2B"/>
                </a:solidFill>
              </a:rPr>
              <a:t>• Every partner contributes a prize each year (a tasting, a day pass, a milling experience), so the pool reflects the real range of what makes Queen Creek Queen Creek, not one generic giveaway</a:t>
            </a:r>
          </a:p>
          <a:p>
            <a:pPr>
              <a:spcAft>
                <a:spcPts val="500"/>
              </a:spcAft>
            </a:pPr>
            <a:r>
              <a:rPr sz="1300">
                <a:solidFill>
                  <a:srgbClr val="2B2B2B"/>
                </a:solidFill>
              </a:rPr>
              <a:t>• Announced at 9 AM open, drawn at 12:15 PM, framed as a set of real local partnerships, not fine print</a:t>
            </a:r>
          </a:p>
          <a:p>
            <a:pPr>
              <a:spcAft>
                <a:spcPts val="500"/>
              </a:spcAft>
            </a:pPr>
            <a:r>
              <a:rPr sz="1300">
                <a:solidFill>
                  <a:srgbClr val="2B2B2B"/>
                </a:solidFill>
              </a:rPr>
              <a:t>• Zero cost to the Town; every partner becomes part of the town's signature spring event</a:t>
            </a:r>
          </a:p>
        </p:txBody>
      </p:sp>
      <p:sp>
        <p:nvSpPr>
          <p:cNvPr id="45" name="Rectangle 44"/>
          <p:cNvSpPr/>
          <p:nvPr/>
        </p:nvSpPr>
        <p:spPr>
          <a:xfrm>
            <a:off x="6080760" y="4370832"/>
            <a:ext cx="5806440" cy="384048"/>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17920" y="4425696"/>
            <a:ext cx="5623559" cy="320040"/>
          </a:xfrm>
          <a:prstGeom prst="rect">
            <a:avLst/>
          </a:prstGeom>
          <a:noFill/>
        </p:spPr>
        <p:txBody>
          <a:bodyPr wrap="square">
            <a:spAutoFit/>
          </a:bodyPr>
          <a:lstStyle/>
          <a:p>
            <a:pPr algn="l"/>
            <a:r>
              <a:rPr sz="1400" b="1" i="0">
                <a:solidFill>
                  <a:srgbClr val="FFFFFF"/>
                </a:solidFill>
              </a:rPr>
              <a:t>Silver Eggs: Growing the Ticket Pool</a:t>
            </a:r>
          </a:p>
        </p:txBody>
      </p:sp>
      <p:sp>
        <p:nvSpPr>
          <p:cNvPr id="47" name="TextBox 46"/>
          <p:cNvSpPr txBox="1"/>
          <p:nvPr/>
        </p:nvSpPr>
        <p:spPr>
          <a:xfrm>
            <a:off x="6172200" y="4809744"/>
            <a:ext cx="5623559" cy="1581912"/>
          </a:xfrm>
          <a:prstGeom prst="rect">
            <a:avLst/>
          </a:prstGeom>
          <a:noFill/>
        </p:spPr>
        <p:txBody>
          <a:bodyPr wrap="square">
            <a:spAutoFit/>
          </a:bodyPr>
          <a:lstStyle/>
          <a:p>
            <a:pPr>
              <a:spcAft>
                <a:spcPts val="500"/>
              </a:spcAft>
            </a:pPr>
            <a:r>
              <a:rPr sz="1300">
                <a:solidFill>
                  <a:srgbClr val="2B2B2B"/>
                </a:solidFill>
              </a:rPr>
              <a:t>• Hidden alongside the existing Golden Ticket during each age group's hunt window, a natural fit, not a new mechanic bolted on</a:t>
            </a:r>
          </a:p>
          <a:p>
            <a:pPr>
              <a:spcAft>
                <a:spcPts val="500"/>
              </a:spcAft>
            </a:pPr>
            <a:r>
              <a:rPr sz="1300">
                <a:solidFill>
                  <a:srgbClr val="2B2B2B"/>
                </a:solidFill>
              </a:rPr>
              <a:t>• Each Silver Egg found redeems for a bonus raffle ticket into the local-partnership drawing</a:t>
            </a:r>
          </a:p>
          <a:p>
            <a:pPr>
              <a:spcAft>
                <a:spcPts val="500"/>
              </a:spcAft>
            </a:pPr>
            <a:r>
              <a:rPr sz="1300">
                <a:solidFill>
                  <a:srgbClr val="2B2B2B"/>
                </a:solidFill>
              </a:rPr>
              <a:t>• Grows the ticket pool without adding a new card, app, or checklist for families to manage</a:t>
            </a:r>
          </a:p>
          <a:p>
            <a:pPr>
              <a:spcAft>
                <a:spcPts val="500"/>
              </a:spcAft>
            </a:pPr>
            <a:r>
              <a:rPr sz="1300">
                <a:solidFill>
                  <a:srgbClr val="2B2B2B"/>
                </a:solidFill>
              </a:rPr>
              <a:t>• Also does double duty for Strategy 2 (see next slide)</a:t>
            </a:r>
          </a:p>
        </p:txBody>
      </p:sp>
      <p:sp>
        <p:nvSpPr>
          <p:cNvPr id="48" name="TextBox 47"/>
          <p:cNvSpPr txBox="1"/>
          <p:nvPr/>
        </p:nvSpPr>
        <p:spPr>
          <a:xfrm>
            <a:off x="320040" y="6492240"/>
            <a:ext cx="11521440" cy="274320"/>
          </a:xfrm>
          <a:prstGeom prst="rect">
            <a:avLst/>
          </a:prstGeom>
          <a:noFill/>
        </p:spPr>
        <p:txBody>
          <a:bodyPr wrap="square">
            <a:spAutoFit/>
          </a:bodyPr>
          <a:lstStyle/>
          <a:p>
            <a:pPr algn="ctr"/>
            <a:r>
              <a:rPr sz="1100" b="1" i="0">
                <a:solidFill>
                  <a:srgbClr val="1A5C38"/>
                </a:solidFill>
              </a:rPr>
              <a:t>Finding 1 gets a raffle worth having: real local partnerships and a bigger, easier-to-earn ticket pool.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Strategy 2: Claim the Post-Hunt Moment</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A Prize That's Already Theirs to Win</a:t>
            </a:r>
          </a:p>
        </p:txBody>
      </p:sp>
      <p:sp>
        <p:nvSpPr>
          <p:cNvPr id="7" name="Rectangle 6"/>
          <p:cNvSpPr/>
          <p:nvPr/>
        </p:nvSpPr>
        <p:spPr>
          <a:xfrm>
            <a:off x="320040" y="1417320"/>
            <a:ext cx="115214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11247120" cy="411480"/>
          </a:xfrm>
          <a:prstGeom prst="rect">
            <a:avLst/>
          </a:prstGeom>
          <a:noFill/>
        </p:spPr>
        <p:txBody>
          <a:bodyPr wrap="square">
            <a:spAutoFit/>
          </a:bodyPr>
          <a:lstStyle/>
          <a:p>
            <a:pPr algn="ctr"/>
            <a:r>
              <a:rPr sz="1200" b="0" i="1">
                <a:solidFill>
                  <a:srgbClr val="1A5C38"/>
                </a:solidFill>
              </a:rPr>
              <a:t>Finding 3 identified the gap. The answer isn't a new attraction. It's making families realize what they might already be holding.</a:t>
            </a:r>
          </a:p>
        </p:txBody>
      </p:sp>
      <p:sp>
        <p:nvSpPr>
          <p:cNvPr id="9" name="Rectangle 8"/>
          <p:cNvSpPr/>
          <p:nvPr/>
        </p:nvSpPr>
        <p:spPr>
          <a:xfrm>
            <a:off x="320040" y="2148840"/>
            <a:ext cx="5577840" cy="384048"/>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203704"/>
            <a:ext cx="5394959" cy="320040"/>
          </a:xfrm>
          <a:prstGeom prst="rect">
            <a:avLst/>
          </a:prstGeom>
          <a:noFill/>
        </p:spPr>
        <p:txBody>
          <a:bodyPr wrap="square">
            <a:spAutoFit/>
          </a:bodyPr>
          <a:lstStyle/>
          <a:p>
            <a:pPr algn="l"/>
            <a:r>
              <a:rPr sz="1400" b="1" i="0">
                <a:solidFill>
                  <a:srgbClr val="FFFFFF"/>
                </a:solidFill>
              </a:rPr>
              <a:t>The Moment This Strategy Has to Claim</a:t>
            </a:r>
          </a:p>
        </p:txBody>
      </p:sp>
      <p:sp>
        <p:nvSpPr>
          <p:cNvPr id="11" name="TextBox 10"/>
          <p:cNvSpPr txBox="1"/>
          <p:nvPr/>
        </p:nvSpPr>
        <p:spPr>
          <a:xfrm>
            <a:off x="411479" y="2587752"/>
            <a:ext cx="5394959" cy="1673352"/>
          </a:xfrm>
          <a:prstGeom prst="rect">
            <a:avLst/>
          </a:prstGeom>
          <a:noFill/>
        </p:spPr>
        <p:txBody>
          <a:bodyPr wrap="square">
            <a:spAutoFit/>
          </a:bodyPr>
          <a:lstStyle/>
          <a:p>
            <a:pPr>
              <a:spcAft>
                <a:spcPts val="500"/>
              </a:spcAft>
            </a:pPr>
            <a:r>
              <a:rPr sz="1300">
                <a:solidFill>
                  <a:srgbClr val="2B2B2B"/>
                </a:solidFill>
              </a:rPr>
              <a:t>• Egg hunts are already well-staggered by age group, 9:30 AM – 12:30 PM</a:t>
            </a:r>
          </a:p>
          <a:p>
            <a:pPr>
              <a:spcAft>
                <a:spcPts val="500"/>
              </a:spcAft>
            </a:pPr>
            <a:r>
              <a:rPr sz="1300">
                <a:solidFill>
                  <a:srgbClr val="2B2B2B"/>
                </a:solidFill>
              </a:rPr>
              <a:t>• The moment each group's hunt ends, the visit feels complete</a:t>
            </a:r>
          </a:p>
          <a:p>
            <a:pPr>
              <a:spcAft>
                <a:spcPts val="500"/>
              </a:spcAft>
            </a:pPr>
            <a:r>
              <a:rPr sz="1300">
                <a:solidFill>
                  <a:srgbClr val="2B2B2B"/>
                </a:solidFill>
              </a:rPr>
              <a:t>• No photo, no signal, no next step, so the default is to walk to the car</a:t>
            </a:r>
          </a:p>
        </p:txBody>
      </p:sp>
      <p:sp>
        <p:nvSpPr>
          <p:cNvPr id="12" name="Rectangle 11"/>
          <p:cNvSpPr/>
          <p:nvPr/>
        </p:nvSpPr>
        <p:spPr>
          <a:xfrm>
            <a:off x="6080760" y="2148840"/>
            <a:ext cx="5806440" cy="384048"/>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203704"/>
            <a:ext cx="5623559" cy="320040"/>
          </a:xfrm>
          <a:prstGeom prst="rect">
            <a:avLst/>
          </a:prstGeom>
          <a:noFill/>
        </p:spPr>
        <p:txBody>
          <a:bodyPr wrap="square">
            <a:spAutoFit/>
          </a:bodyPr>
          <a:lstStyle/>
          <a:p>
            <a:pPr algn="l"/>
            <a:r>
              <a:rPr sz="1400" b="1" i="0">
                <a:solidFill>
                  <a:srgbClr val="FFFFFF"/>
                </a:solidFill>
              </a:rPr>
              <a:t>How Silver Eggs Claim It</a:t>
            </a:r>
          </a:p>
        </p:txBody>
      </p:sp>
      <p:sp>
        <p:nvSpPr>
          <p:cNvPr id="14" name="TextBox 13"/>
          <p:cNvSpPr txBox="1"/>
          <p:nvPr/>
        </p:nvSpPr>
        <p:spPr>
          <a:xfrm>
            <a:off x="6172200" y="2587752"/>
            <a:ext cx="5623559" cy="1673352"/>
          </a:xfrm>
          <a:prstGeom prst="rect">
            <a:avLst/>
          </a:prstGeom>
          <a:noFill/>
        </p:spPr>
        <p:txBody>
          <a:bodyPr wrap="square">
            <a:spAutoFit/>
          </a:bodyPr>
          <a:lstStyle/>
          <a:p>
            <a:pPr>
              <a:spcAft>
                <a:spcPts val="500"/>
              </a:spcAft>
            </a:pPr>
            <a:r>
              <a:rPr sz="1300">
                <a:solidFill>
                  <a:srgbClr val="2B2B2B"/>
                </a:solidFill>
              </a:rPr>
              <a:t>• A family doesn't know if they're holding a live raffle ticket until they check their bucket for a Silver Egg</a:t>
            </a:r>
          </a:p>
          <a:p>
            <a:pPr>
              <a:spcAft>
                <a:spcPts val="500"/>
              </a:spcAft>
            </a:pPr>
            <a:r>
              <a:rPr sz="1300">
                <a:solidFill>
                  <a:srgbClr val="2B2B2B"/>
                </a:solidFill>
              </a:rPr>
              <a:t>• The 12:15 PM local-partnership drawing (Strategy 1) makes that ticket worth something real: an Olive Mill tasting, a Schnepf Farms day pass, a San Tan Flat dinner, not a gift card</a:t>
            </a:r>
          </a:p>
          <a:p>
            <a:pPr>
              <a:spcAft>
                <a:spcPts val="500"/>
              </a:spcAft>
            </a:pPr>
            <a:r>
              <a:rPr sz="1300">
                <a:solidFill>
                  <a:srgbClr val="2B2B2B"/>
                </a:solidFill>
              </a:rPr>
              <a:t>• Strategy 3's handoff signage at the Egg Hunt Field exit does double duty: point families to the spine, and remind them the drawing is coming</a:t>
            </a:r>
          </a:p>
        </p:txBody>
      </p:sp>
      <p:sp>
        <p:nvSpPr>
          <p:cNvPr id="15" name="Rectangle 14"/>
          <p:cNvSpPr/>
          <p:nvPr/>
        </p:nvSpPr>
        <p:spPr>
          <a:xfrm>
            <a:off x="320040" y="4526280"/>
            <a:ext cx="11521440" cy="1600200"/>
          </a:xfrm>
          <a:prstGeom prst="rect">
            <a:avLst/>
          </a:prstGeom>
          <a:solidFill>
            <a:srgbClr val="FDF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645152"/>
            <a:ext cx="11155680" cy="365760"/>
          </a:xfrm>
          <a:prstGeom prst="rect">
            <a:avLst/>
          </a:prstGeom>
          <a:noFill/>
        </p:spPr>
        <p:txBody>
          <a:bodyPr wrap="square">
            <a:spAutoFit/>
          </a:bodyPr>
          <a:lstStyle/>
          <a:p>
            <a:pPr algn="ctr"/>
            <a:r>
              <a:rPr sz="1300" b="1" i="0">
                <a:solidFill>
                  <a:srgbClr val="7A5500"/>
                </a:solidFill>
              </a:rPr>
              <a:t>THE IDEA: A REASON TO STAY THEY ALREADY HAVE</a:t>
            </a:r>
          </a:p>
        </p:txBody>
      </p:sp>
      <p:sp>
        <p:nvSpPr>
          <p:cNvPr id="17" name="TextBox 16"/>
          <p:cNvSpPr txBox="1"/>
          <p:nvPr/>
        </p:nvSpPr>
        <p:spPr>
          <a:xfrm>
            <a:off x="548640" y="5029200"/>
            <a:ext cx="11064240" cy="1005840"/>
          </a:xfrm>
          <a:prstGeom prst="rect">
            <a:avLst/>
          </a:prstGeom>
          <a:noFill/>
        </p:spPr>
        <p:txBody>
          <a:bodyPr wrap="square">
            <a:spAutoFit/>
          </a:bodyPr>
          <a:lstStyle/>
          <a:p>
            <a:pPr algn="ctr"/>
            <a:r>
              <a:rPr sz="1250" b="0" i="1">
                <a:solidFill>
                  <a:srgbClr val="7A5500"/>
                </a:solidFill>
              </a:rPr>
              <a:t>Families don't need a new reason to stay. They need to realize they might already have one. The Silver Egg in their bucket is a live ticket to a prize that's genuinely Queen Creek's own. That's what turns "time to go" into "let's see if we won." No new attraction, no new infrastructure, just naming what the egg hunt, the raffle, and the local prizes already add up to.</a:t>
            </a:r>
          </a:p>
        </p:txBody>
      </p:sp>
      <p:sp>
        <p:nvSpPr>
          <p:cNvPr id="18" name="TextBox 17"/>
          <p:cNvSpPr txBox="1"/>
          <p:nvPr/>
        </p:nvSpPr>
        <p:spPr>
          <a:xfrm>
            <a:off x="320040" y="6263640"/>
            <a:ext cx="11521440" cy="365760"/>
          </a:xfrm>
          <a:prstGeom prst="rect">
            <a:avLst/>
          </a:prstGeom>
          <a:noFill/>
        </p:spPr>
        <p:txBody>
          <a:bodyPr wrap="square">
            <a:spAutoFit/>
          </a:bodyPr>
          <a:lstStyle/>
          <a:p>
            <a:pPr algn="ctr"/>
            <a:r>
              <a:rPr sz="1100" b="1" i="0">
                <a:solidFill>
                  <a:srgbClr val="1A5C38"/>
                </a:solidFill>
              </a:rPr>
              <a:t>Strategy 1 gives them something worth winning. Strategy 2 gives them a reason to stay for it. Strategy 3 turns that into a reason to explore.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3444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34440"/>
            <a:ext cx="12188952"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37160"/>
            <a:ext cx="10972800" cy="777240"/>
          </a:xfrm>
          <a:prstGeom prst="rect">
            <a:avLst/>
          </a:prstGeom>
          <a:noFill/>
        </p:spPr>
        <p:txBody>
          <a:bodyPr wrap="square">
            <a:spAutoFit/>
          </a:bodyPr>
          <a:lstStyle/>
          <a:p>
            <a:pPr algn="l"/>
            <a:r>
              <a:rPr sz="2800" b="1" i="0">
                <a:solidFill>
                  <a:srgbClr val="FFFFFF"/>
                </a:solidFill>
              </a:rPr>
              <a:t>Strategy 3: Strengthen Connectivity Through Staff</a:t>
            </a:r>
          </a:p>
        </p:txBody>
      </p:sp>
      <p:sp>
        <p:nvSpPr>
          <p:cNvPr id="6" name="TextBox 5"/>
          <p:cNvSpPr txBox="1"/>
          <p:nvPr/>
        </p:nvSpPr>
        <p:spPr>
          <a:xfrm>
            <a:off x="320040" y="822960"/>
            <a:ext cx="10972800" cy="411480"/>
          </a:xfrm>
          <a:prstGeom prst="rect">
            <a:avLst/>
          </a:prstGeom>
          <a:noFill/>
        </p:spPr>
        <p:txBody>
          <a:bodyPr wrap="square">
            <a:spAutoFit/>
          </a:bodyPr>
          <a:lstStyle/>
          <a:p>
            <a:pPr algn="l"/>
            <a:r>
              <a:rPr sz="1400" b="0" i="0">
                <a:solidFill>
                  <a:srgbClr val="D4A017"/>
                </a:solidFill>
              </a:rPr>
              <a:t>Turning a Live Ticket Into a Reason to Explore</a:t>
            </a:r>
          </a:p>
        </p:txBody>
      </p:sp>
      <p:sp>
        <p:nvSpPr>
          <p:cNvPr id="7" name="Rectangle 6"/>
          <p:cNvSpPr/>
          <p:nvPr/>
        </p:nvSpPr>
        <p:spPr>
          <a:xfrm>
            <a:off x="320040" y="1417320"/>
            <a:ext cx="115214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11247120" cy="411480"/>
          </a:xfrm>
          <a:prstGeom prst="rect">
            <a:avLst/>
          </a:prstGeom>
          <a:noFill/>
        </p:spPr>
        <p:txBody>
          <a:bodyPr wrap="square">
            <a:spAutoFit/>
          </a:bodyPr>
          <a:lstStyle/>
          <a:p>
            <a:pPr algn="ctr"/>
            <a:r>
              <a:rPr sz="1200" b="0" i="1">
                <a:solidFill>
                  <a:srgbClr val="1A5C38"/>
                </a:solidFill>
              </a:rPr>
              <a:t>Strategy 2 gives families a reason to want to stay. Strategy 3 is staff turning that want into families actually seeing the rest of the site.</a:t>
            </a:r>
          </a:p>
        </p:txBody>
      </p:sp>
      <p:sp>
        <p:nvSpPr>
          <p:cNvPr id="9" name="Rectangle 8"/>
          <p:cNvSpPr/>
          <p:nvPr/>
        </p:nvSpPr>
        <p:spPr>
          <a:xfrm>
            <a:off x="320040" y="2057400"/>
            <a:ext cx="11521440" cy="59436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94560"/>
            <a:ext cx="11247120" cy="365760"/>
          </a:xfrm>
          <a:prstGeom prst="rect">
            <a:avLst/>
          </a:prstGeom>
          <a:noFill/>
        </p:spPr>
        <p:txBody>
          <a:bodyPr wrap="square">
            <a:spAutoFit/>
          </a:bodyPr>
          <a:lstStyle/>
          <a:p>
            <a:pPr algn="ctr"/>
            <a:r>
              <a:rPr sz="1300" b="1" i="0">
                <a:solidFill>
                  <a:srgbClr val="FFFFFF"/>
                </a:solidFill>
              </a:rPr>
              <a:t>THE SPINE: Vendor Row &amp; Main Walkway (already connects every zone)</a:t>
            </a:r>
          </a:p>
        </p:txBody>
      </p:sp>
      <p:sp>
        <p:nvSpPr>
          <p:cNvPr id="11" name="TextBox 10"/>
          <p:cNvSpPr txBox="1"/>
          <p:nvPr/>
        </p:nvSpPr>
        <p:spPr>
          <a:xfrm>
            <a:off x="320040" y="2697480"/>
            <a:ext cx="3657600" cy="320040"/>
          </a:xfrm>
          <a:prstGeom prst="rect">
            <a:avLst/>
          </a:prstGeom>
          <a:noFill/>
        </p:spPr>
        <p:txBody>
          <a:bodyPr wrap="square">
            <a:spAutoFit/>
          </a:bodyPr>
          <a:lstStyle/>
          <a:p>
            <a:pPr algn="ctr"/>
            <a:r>
              <a:rPr sz="1600" b="1" i="0">
                <a:solidFill>
                  <a:srgbClr val="D4A017"/>
                </a:solidFill>
              </a:rPr>
              <a:t>↕</a:t>
            </a:r>
          </a:p>
        </p:txBody>
      </p:sp>
      <p:sp>
        <p:nvSpPr>
          <p:cNvPr id="12" name="TextBox 11"/>
          <p:cNvSpPr txBox="1"/>
          <p:nvPr/>
        </p:nvSpPr>
        <p:spPr>
          <a:xfrm>
            <a:off x="320040" y="2999232"/>
            <a:ext cx="3657600" cy="256032"/>
          </a:xfrm>
          <a:prstGeom prst="rect">
            <a:avLst/>
          </a:prstGeom>
          <a:noFill/>
        </p:spPr>
        <p:txBody>
          <a:bodyPr wrap="square">
            <a:spAutoFit/>
          </a:bodyPr>
          <a:lstStyle/>
          <a:p>
            <a:pPr algn="ctr"/>
            <a:r>
              <a:rPr sz="900" b="1" i="1">
                <a:solidFill>
                  <a:srgbClr val="2B2B2B"/>
                </a:solidFill>
              </a:rPr>
              <a:t>staff handoff</a:t>
            </a:r>
          </a:p>
        </p:txBody>
      </p:sp>
      <p:sp>
        <p:nvSpPr>
          <p:cNvPr id="13" name="Rectangle 12"/>
          <p:cNvSpPr/>
          <p:nvPr/>
        </p:nvSpPr>
        <p:spPr>
          <a:xfrm>
            <a:off x="320040" y="3291840"/>
            <a:ext cx="3657600" cy="1051560"/>
          </a:xfrm>
          <a:prstGeom prst="rect">
            <a:avLst/>
          </a:prstGeom>
          <a:solidFill>
            <a:srgbClr val="2E7D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192" y="3401568"/>
            <a:ext cx="3511296" cy="365760"/>
          </a:xfrm>
          <a:prstGeom prst="rect">
            <a:avLst/>
          </a:prstGeom>
          <a:noFill/>
        </p:spPr>
        <p:txBody>
          <a:bodyPr wrap="square">
            <a:spAutoFit/>
          </a:bodyPr>
          <a:lstStyle/>
          <a:p>
            <a:pPr algn="ctr"/>
            <a:r>
              <a:rPr sz="1200" b="1" i="0">
                <a:solidFill>
                  <a:srgbClr val="FFFFFF"/>
                </a:solidFill>
              </a:rPr>
              <a:t>EGG HUNT FIELD</a:t>
            </a:r>
          </a:p>
        </p:txBody>
      </p:sp>
      <p:sp>
        <p:nvSpPr>
          <p:cNvPr id="15" name="TextBox 14"/>
          <p:cNvSpPr txBox="1"/>
          <p:nvPr/>
        </p:nvSpPr>
        <p:spPr>
          <a:xfrm>
            <a:off x="393192" y="3794760"/>
            <a:ext cx="3511296" cy="502920"/>
          </a:xfrm>
          <a:prstGeom prst="rect">
            <a:avLst/>
          </a:prstGeom>
          <a:noFill/>
        </p:spPr>
        <p:txBody>
          <a:bodyPr wrap="square">
            <a:spAutoFit/>
          </a:bodyPr>
          <a:lstStyle/>
          <a:p>
            <a:pPr algn="ctr"/>
            <a:r>
              <a:rPr sz="900" b="0" i="0">
                <a:solidFill>
                  <a:srgbClr val="F4F4F4"/>
                </a:solidFill>
              </a:rPr>
              <a:t>Priority handoff, highest volume, most time-critical moment</a:t>
            </a:r>
          </a:p>
        </p:txBody>
      </p:sp>
      <p:sp>
        <p:nvSpPr>
          <p:cNvPr id="16" name="TextBox 15"/>
          <p:cNvSpPr txBox="1"/>
          <p:nvPr/>
        </p:nvSpPr>
        <p:spPr>
          <a:xfrm>
            <a:off x="4251959" y="2697480"/>
            <a:ext cx="3657600" cy="320040"/>
          </a:xfrm>
          <a:prstGeom prst="rect">
            <a:avLst/>
          </a:prstGeom>
          <a:noFill/>
        </p:spPr>
        <p:txBody>
          <a:bodyPr wrap="square">
            <a:spAutoFit/>
          </a:bodyPr>
          <a:lstStyle/>
          <a:p>
            <a:pPr algn="ctr"/>
            <a:r>
              <a:rPr sz="1600" b="1" i="0">
                <a:solidFill>
                  <a:srgbClr val="D4A017"/>
                </a:solidFill>
              </a:rPr>
              <a:t>↕</a:t>
            </a:r>
          </a:p>
        </p:txBody>
      </p:sp>
      <p:sp>
        <p:nvSpPr>
          <p:cNvPr id="17" name="TextBox 16"/>
          <p:cNvSpPr txBox="1"/>
          <p:nvPr/>
        </p:nvSpPr>
        <p:spPr>
          <a:xfrm>
            <a:off x="4251959" y="2999232"/>
            <a:ext cx="3657600" cy="256032"/>
          </a:xfrm>
          <a:prstGeom prst="rect">
            <a:avLst/>
          </a:prstGeom>
          <a:noFill/>
        </p:spPr>
        <p:txBody>
          <a:bodyPr wrap="square">
            <a:spAutoFit/>
          </a:bodyPr>
          <a:lstStyle/>
          <a:p>
            <a:pPr algn="ctr"/>
            <a:r>
              <a:rPr sz="900" b="1" i="1">
                <a:solidFill>
                  <a:srgbClr val="2B2B2B"/>
                </a:solidFill>
              </a:rPr>
              <a:t>staff handoff</a:t>
            </a:r>
          </a:p>
        </p:txBody>
      </p:sp>
      <p:sp>
        <p:nvSpPr>
          <p:cNvPr id="18" name="Rectangle 17"/>
          <p:cNvSpPr/>
          <p:nvPr/>
        </p:nvSpPr>
        <p:spPr>
          <a:xfrm>
            <a:off x="4251959" y="3291840"/>
            <a:ext cx="3657600" cy="1051560"/>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5112" y="3401568"/>
            <a:ext cx="3511296" cy="365760"/>
          </a:xfrm>
          <a:prstGeom prst="rect">
            <a:avLst/>
          </a:prstGeom>
          <a:noFill/>
        </p:spPr>
        <p:txBody>
          <a:bodyPr wrap="square">
            <a:spAutoFit/>
          </a:bodyPr>
          <a:lstStyle/>
          <a:p>
            <a:pPr algn="ctr"/>
            <a:r>
              <a:rPr sz="1200" b="1" i="0">
                <a:solidFill>
                  <a:srgbClr val="FFFFFF"/>
                </a:solidFill>
              </a:rPr>
              <a:t>ANIMAL RACE ARENA</a:t>
            </a:r>
          </a:p>
        </p:txBody>
      </p:sp>
      <p:sp>
        <p:nvSpPr>
          <p:cNvPr id="20" name="TextBox 19"/>
          <p:cNvSpPr txBox="1"/>
          <p:nvPr/>
        </p:nvSpPr>
        <p:spPr>
          <a:xfrm>
            <a:off x="4325112" y="3794760"/>
            <a:ext cx="3511296" cy="502920"/>
          </a:xfrm>
          <a:prstGeom prst="rect">
            <a:avLst/>
          </a:prstGeom>
          <a:noFill/>
        </p:spPr>
        <p:txBody>
          <a:bodyPr wrap="square">
            <a:spAutoFit/>
          </a:bodyPr>
          <a:lstStyle/>
          <a:p>
            <a:pPr algn="ctr"/>
            <a:r>
              <a:rPr sz="900" b="0" i="0">
                <a:solidFill>
                  <a:srgbClr val="F4F4F4"/>
                </a:solidFill>
              </a:rPr>
              <a:t>Fenced arena, hay-bale seating, already a strong draw</a:t>
            </a:r>
          </a:p>
        </p:txBody>
      </p:sp>
      <p:sp>
        <p:nvSpPr>
          <p:cNvPr id="21" name="TextBox 20"/>
          <p:cNvSpPr txBox="1"/>
          <p:nvPr/>
        </p:nvSpPr>
        <p:spPr>
          <a:xfrm>
            <a:off x="8183879" y="2697480"/>
            <a:ext cx="3657600" cy="320040"/>
          </a:xfrm>
          <a:prstGeom prst="rect">
            <a:avLst/>
          </a:prstGeom>
          <a:noFill/>
        </p:spPr>
        <p:txBody>
          <a:bodyPr wrap="square">
            <a:spAutoFit/>
          </a:bodyPr>
          <a:lstStyle/>
          <a:p>
            <a:pPr algn="ctr"/>
            <a:r>
              <a:rPr sz="1600" b="1" i="0">
                <a:solidFill>
                  <a:srgbClr val="D4A017"/>
                </a:solidFill>
              </a:rPr>
              <a:t>↕</a:t>
            </a:r>
          </a:p>
        </p:txBody>
      </p:sp>
      <p:sp>
        <p:nvSpPr>
          <p:cNvPr id="22" name="TextBox 21"/>
          <p:cNvSpPr txBox="1"/>
          <p:nvPr/>
        </p:nvSpPr>
        <p:spPr>
          <a:xfrm>
            <a:off x="8183879" y="2999232"/>
            <a:ext cx="3657600" cy="256032"/>
          </a:xfrm>
          <a:prstGeom prst="rect">
            <a:avLst/>
          </a:prstGeom>
          <a:noFill/>
        </p:spPr>
        <p:txBody>
          <a:bodyPr wrap="square">
            <a:spAutoFit/>
          </a:bodyPr>
          <a:lstStyle/>
          <a:p>
            <a:pPr algn="ctr"/>
            <a:r>
              <a:rPr sz="900" b="1" i="1">
                <a:solidFill>
                  <a:srgbClr val="2B2B2B"/>
                </a:solidFill>
              </a:rPr>
              <a:t>staff handoff</a:t>
            </a:r>
          </a:p>
        </p:txBody>
      </p:sp>
      <p:sp>
        <p:nvSpPr>
          <p:cNvPr id="23" name="Rectangle 22"/>
          <p:cNvSpPr/>
          <p:nvPr/>
        </p:nvSpPr>
        <p:spPr>
          <a:xfrm>
            <a:off x="8183879" y="3291840"/>
            <a:ext cx="3657600" cy="1051560"/>
          </a:xfrm>
          <a:prstGeom prst="rect">
            <a:avLst/>
          </a:prstGeom>
          <a:solidFill>
            <a:srgbClr val="2E7D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7031" y="3401568"/>
            <a:ext cx="3511296" cy="365760"/>
          </a:xfrm>
          <a:prstGeom prst="rect">
            <a:avLst/>
          </a:prstGeom>
          <a:noFill/>
        </p:spPr>
        <p:txBody>
          <a:bodyPr wrap="square">
            <a:spAutoFit/>
          </a:bodyPr>
          <a:lstStyle/>
          <a:p>
            <a:pPr algn="ctr"/>
            <a:r>
              <a:rPr sz="1200" b="1" i="0">
                <a:solidFill>
                  <a:srgbClr val="FFFFFF"/>
                </a:solidFill>
              </a:rPr>
              <a:t>PLAY PODS</a:t>
            </a:r>
          </a:p>
        </p:txBody>
      </p:sp>
      <p:sp>
        <p:nvSpPr>
          <p:cNvPr id="25" name="TextBox 24"/>
          <p:cNvSpPr txBox="1"/>
          <p:nvPr/>
        </p:nvSpPr>
        <p:spPr>
          <a:xfrm>
            <a:off x="8257031" y="3794760"/>
            <a:ext cx="3511296" cy="502920"/>
          </a:xfrm>
          <a:prstGeom prst="rect">
            <a:avLst/>
          </a:prstGeom>
          <a:noFill/>
        </p:spPr>
        <p:txBody>
          <a:bodyPr wrap="square">
            <a:spAutoFit/>
          </a:bodyPr>
          <a:lstStyle/>
          <a:p>
            <a:pPr algn="ctr"/>
            <a:r>
              <a:rPr sz="900" b="0" i="0">
                <a:solidFill>
                  <a:srgbClr val="F4F4F4"/>
                </a:solidFill>
              </a:rPr>
              <a:t>Tot Spot, Play Zone, Color Blast &amp; vendor activations</a:t>
            </a:r>
          </a:p>
        </p:txBody>
      </p:sp>
      <p:sp>
        <p:nvSpPr>
          <p:cNvPr id="26" name="Rectangle 25"/>
          <p:cNvSpPr/>
          <p:nvPr/>
        </p:nvSpPr>
        <p:spPr>
          <a:xfrm>
            <a:off x="320040" y="4480560"/>
            <a:ext cx="5577840" cy="384048"/>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535424"/>
            <a:ext cx="5394959" cy="320040"/>
          </a:xfrm>
          <a:prstGeom prst="rect">
            <a:avLst/>
          </a:prstGeom>
          <a:noFill/>
        </p:spPr>
        <p:txBody>
          <a:bodyPr wrap="square">
            <a:spAutoFit/>
          </a:bodyPr>
          <a:lstStyle/>
          <a:p>
            <a:pPr algn="l"/>
            <a:r>
              <a:rPr sz="1400" b="1" i="0">
                <a:solidFill>
                  <a:srgbClr val="FFFFFF"/>
                </a:solidFill>
              </a:rPr>
              <a:t>How It Works</a:t>
            </a:r>
          </a:p>
        </p:txBody>
      </p:sp>
      <p:sp>
        <p:nvSpPr>
          <p:cNvPr id="28" name="TextBox 27"/>
          <p:cNvSpPr txBox="1"/>
          <p:nvPr/>
        </p:nvSpPr>
        <p:spPr>
          <a:xfrm>
            <a:off x="411479" y="4919472"/>
            <a:ext cx="5394959" cy="1581912"/>
          </a:xfrm>
          <a:prstGeom prst="rect">
            <a:avLst/>
          </a:prstGeom>
          <a:noFill/>
        </p:spPr>
        <p:txBody>
          <a:bodyPr wrap="square">
            <a:spAutoFit/>
          </a:bodyPr>
          <a:lstStyle/>
          <a:p>
            <a:pPr>
              <a:spcAft>
                <a:spcPts val="500"/>
              </a:spcAft>
            </a:pPr>
            <a:r>
              <a:rPr sz="1300">
                <a:solidFill>
                  <a:srgbClr val="2B2B2B"/>
                </a:solidFill>
              </a:rPr>
              <a:t>• A light shared identity ties the zones together, naming and signage, not new construction</a:t>
            </a:r>
          </a:p>
          <a:p>
            <a:pPr>
              <a:spcAft>
                <a:spcPts val="500"/>
              </a:spcAft>
            </a:pPr>
            <a:r>
              <a:rPr sz="1300">
                <a:solidFill>
                  <a:srgbClr val="2B2B2B"/>
                </a:solidFill>
              </a:rPr>
              <a:t>• Staff at each zone's exit give a five-second handoff built around the ticket: "You've got a shot at a prize, have you checked out Zone B yet?"</a:t>
            </a:r>
          </a:p>
          <a:p>
            <a:pPr>
              <a:spcAft>
                <a:spcPts val="500"/>
              </a:spcAft>
            </a:pPr>
            <a:r>
              <a:rPr sz="1300">
                <a:solidFill>
                  <a:srgbClr val="2B2B2B"/>
                </a:solidFill>
              </a:rPr>
              <a:t>• Egg Hunt Field exit comes first: the highest-volume handoff, right when families are holding their Silver Egg excitement from Strategy 2</a:t>
            </a:r>
          </a:p>
          <a:p>
            <a:pPr>
              <a:spcAft>
                <a:spcPts val="500"/>
              </a:spcAft>
            </a:pPr>
            <a:r>
              <a:rPr sz="1300">
                <a:solidFill>
                  <a:srgbClr val="2B2B2B"/>
                </a:solidFill>
              </a:rPr>
              <a:t>• Fields stay physically separate on purpose. The fix is what connects them, not the fences</a:t>
            </a:r>
          </a:p>
        </p:txBody>
      </p:sp>
      <p:sp>
        <p:nvSpPr>
          <p:cNvPr id="29" name="Rectangle 28"/>
          <p:cNvSpPr/>
          <p:nvPr/>
        </p:nvSpPr>
        <p:spPr>
          <a:xfrm>
            <a:off x="6080760" y="4480560"/>
            <a:ext cx="5806440" cy="384048"/>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4535424"/>
            <a:ext cx="5623559" cy="320040"/>
          </a:xfrm>
          <a:prstGeom prst="rect">
            <a:avLst/>
          </a:prstGeom>
          <a:noFill/>
        </p:spPr>
        <p:txBody>
          <a:bodyPr wrap="square">
            <a:spAutoFit/>
          </a:bodyPr>
          <a:lstStyle/>
          <a:p>
            <a:pPr algn="l"/>
            <a:r>
              <a:rPr sz="1400" b="1" i="0">
                <a:solidFill>
                  <a:srgbClr val="FFFFFF"/>
                </a:solidFill>
              </a:rPr>
              <a:t>Why It Works</a:t>
            </a:r>
          </a:p>
        </p:txBody>
      </p:sp>
      <p:sp>
        <p:nvSpPr>
          <p:cNvPr id="31" name="TextBox 30"/>
          <p:cNvSpPr txBox="1"/>
          <p:nvPr/>
        </p:nvSpPr>
        <p:spPr>
          <a:xfrm>
            <a:off x="6172200" y="4919472"/>
            <a:ext cx="5623559" cy="1581912"/>
          </a:xfrm>
          <a:prstGeom prst="rect">
            <a:avLst/>
          </a:prstGeom>
          <a:noFill/>
        </p:spPr>
        <p:txBody>
          <a:bodyPr wrap="square">
            <a:spAutoFit/>
          </a:bodyPr>
          <a:lstStyle/>
          <a:p>
            <a:pPr>
              <a:spcAft>
                <a:spcPts val="500"/>
              </a:spcAft>
            </a:pPr>
            <a:r>
              <a:rPr sz="1300">
                <a:solidFill>
                  <a:srgbClr val="2B2B2B"/>
                </a:solidFill>
              </a:rPr>
              <a:t>• Uses the staff and walkway already on site, no new infrastructure required</a:t>
            </a:r>
          </a:p>
          <a:p>
            <a:pPr>
              <a:spcAft>
                <a:spcPts val="500"/>
              </a:spcAft>
            </a:pPr>
            <a:r>
              <a:rPr sz="1300">
                <a:solidFill>
                  <a:srgbClr val="2B2B2B"/>
                </a:solidFill>
              </a:rPr>
              <a:t>• Turns Strategy 2's anticipation into forward motion instead of letting it fade at the exit</a:t>
            </a:r>
          </a:p>
          <a:p>
            <a:pPr>
              <a:spcAft>
                <a:spcPts val="500"/>
              </a:spcAft>
            </a:pPr>
            <a:r>
              <a:rPr sz="1300">
                <a:solidFill>
                  <a:srgbClr val="2B2B2B"/>
                </a:solidFill>
              </a:rPr>
              <a:t>• Leaves the crowd-flow spacing between fields exactly as it should be</a:t>
            </a:r>
          </a:p>
          <a:p>
            <a:pPr>
              <a:spcAft>
                <a:spcPts val="500"/>
              </a:spcAft>
            </a:pPr>
            <a:r>
              <a:rPr sz="1300">
                <a:solidFill>
                  <a:srgbClr val="2B2B2B"/>
                </a:solidFill>
              </a:rPr>
              <a:t>• Built from real event footage, not just marketing copy, matches how the site actually operates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25880"/>
            <a:ext cx="12188952" cy="64008"/>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806440"/>
            <a:ext cx="12188952" cy="64008"/>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65760"/>
            <a:ext cx="11247120" cy="914400"/>
          </a:xfrm>
          <a:prstGeom prst="rect">
            <a:avLst/>
          </a:prstGeom>
          <a:noFill/>
        </p:spPr>
        <p:txBody>
          <a:bodyPr wrap="square">
            <a:spAutoFit/>
          </a:bodyPr>
          <a:lstStyle/>
          <a:p>
            <a:pPr algn="ctr"/>
            <a:r>
              <a:rPr sz="3200" b="1" i="0">
                <a:solidFill>
                  <a:srgbClr val="FFFFFF"/>
                </a:solidFill>
              </a:rPr>
              <a:t>Final Recommendation</a:t>
            </a:r>
          </a:p>
        </p:txBody>
      </p:sp>
      <p:sp>
        <p:nvSpPr>
          <p:cNvPr id="6" name="Rectangle 5"/>
          <p:cNvSpPr/>
          <p:nvPr/>
        </p:nvSpPr>
        <p:spPr>
          <a:xfrm>
            <a:off x="548640" y="1691640"/>
            <a:ext cx="11064240" cy="3931920"/>
          </a:xfrm>
          <a:prstGeom prst="rect">
            <a:avLst/>
          </a:prstGeom>
          <a:solidFill>
            <a:srgbClr val="226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10424160" cy="3566160"/>
          </a:xfrm>
          <a:prstGeom prst="rect">
            <a:avLst/>
          </a:prstGeom>
          <a:noFill/>
        </p:spPr>
        <p:txBody>
          <a:bodyPr wrap="square">
            <a:spAutoFit/>
          </a:bodyPr>
          <a:lstStyle/>
          <a:p>
            <a:pPr>
              <a:spcAft>
                <a:spcPts val="900"/>
              </a:spcAft>
            </a:pPr>
            <a:r>
              <a:rPr sz="1450" b="0">
                <a:solidFill>
                  <a:srgbClr val="FFFFFF"/>
                </a:solidFill>
              </a:rPr>
              <a:t>Spring Into QC doesn't need more activities. It already has strong ones.</a:t>
            </a:r>
          </a:p>
          <a:p>
            <a:pPr>
              <a:spcAft>
                <a:spcPts val="900"/>
              </a:spcAft>
            </a:pPr>
            <a:r>
              <a:rPr sz="1450" b="0">
                <a:solidFill>
                  <a:srgbClr val="FFFFFF"/>
                </a:solidFill>
              </a:rPr>
              <a:t>It needs a reason worth winning, one moment claimed right after the hunt, and staff who turn that momentum into exploring everything else.</a:t>
            </a:r>
          </a:p>
          <a:p>
            <a:pPr>
              <a:spcAft>
                <a:spcPts val="900"/>
              </a:spcAft>
            </a:pPr>
            <a:r>
              <a:rPr sz="1450" b="0">
                <a:solidFill>
                  <a:srgbClr val="FFFFFF"/>
                </a:solidFill>
              </a:rPr>
              <a:t/>
            </a:r>
          </a:p>
          <a:p>
            <a:pPr>
              <a:spcAft>
                <a:spcPts val="900"/>
              </a:spcAft>
            </a:pPr>
            <a:r>
              <a:rPr sz="1450" b="1">
                <a:solidFill>
                  <a:srgbClr val="FFFFFF"/>
                </a:solidFill>
              </a:rPr>
              <a:t>Strengthen Local Partnerships turns the raffle into something worth entering: real local businesses in the prize pool, and a bigger ticket pool through Silver Eggs.</a:t>
            </a:r>
          </a:p>
          <a:p>
            <a:pPr>
              <a:spcAft>
                <a:spcPts val="900"/>
              </a:spcAft>
            </a:pPr>
            <a:r>
              <a:rPr sz="1450" b="1">
                <a:solidFill>
                  <a:srgbClr val="FFFFFF"/>
                </a:solidFill>
              </a:rPr>
              <a:t>Claim the Post-Hunt Moment turns the seconds after the hunt into anticipation, not an exit. A family that found a Silver Egg already has a reason to stick around for the drawing.</a:t>
            </a:r>
          </a:p>
          <a:p>
            <a:pPr>
              <a:spcAft>
                <a:spcPts val="900"/>
              </a:spcAft>
            </a:pPr>
            <a:r>
              <a:rPr sz="1450" b="1">
                <a:solidFill>
                  <a:srgbClr val="FFFFFF"/>
                </a:solidFill>
              </a:rPr>
              <a:t>Strengthen Connectivity Through Staff turns that anticipation into momentum. Staff use the ticket as the opening line to point families toward everything else the site has to offer.</a:t>
            </a:r>
          </a:p>
          <a:p>
            <a:pPr>
              <a:spcAft>
                <a:spcPts val="900"/>
              </a:spcAft>
            </a:pPr>
            <a:r>
              <a:rPr sz="1450" b="0">
                <a:solidFill>
                  <a:srgbClr val="FFFFFF"/>
                </a:solidFill>
              </a:rPr>
              <a:t/>
            </a:r>
          </a:p>
          <a:p>
            <a:pPr>
              <a:spcAft>
                <a:spcPts val="900"/>
              </a:spcAft>
            </a:pPr>
            <a:r>
              <a:rPr sz="1450" b="0">
                <a:solidFill>
                  <a:srgbClr val="FFFFFF"/>
                </a:solidFill>
              </a:rPr>
              <a:t>All three strategies are built on what's already here. No new infrastructure required.</a:t>
            </a:r>
          </a:p>
        </p:txBody>
      </p:sp>
      <p:sp>
        <p:nvSpPr>
          <p:cNvPr id="8" name="TextBox 7"/>
          <p:cNvSpPr txBox="1"/>
          <p:nvPr/>
        </p:nvSpPr>
        <p:spPr>
          <a:xfrm>
            <a:off x="457200" y="5989320"/>
            <a:ext cx="11247120" cy="457200"/>
          </a:xfrm>
          <a:prstGeom prst="rect">
            <a:avLst/>
          </a:prstGeom>
          <a:noFill/>
        </p:spPr>
        <p:txBody>
          <a:bodyPr wrap="square">
            <a:spAutoFit/>
          </a:bodyPr>
          <a:lstStyle/>
          <a:p>
            <a:pPr algn="ctr"/>
            <a:r>
              <a:rPr sz="1200" b="0" i="1">
                <a:solidFill>
                  <a:srgbClr val="D4A017"/>
                </a:solidFill>
              </a:rPr>
              <a:t>Operational plan and budget for all three strategies are being prepared as a companion document.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