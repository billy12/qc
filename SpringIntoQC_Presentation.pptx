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2606040"/>
            <a:ext cx="1143000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SPRING INTO QC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A017"/>
                </a:solidFill>
              </a:rPr>
              <a:t>Enhancing Engagement Beyond the Egg Hunt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Executive Recommendation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4F4F4"/>
                </a:solidFill>
              </a:rPr>
              <a:t>Town of Queen Creek  |  Parks &amp; Recreation  |  Special 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A017"/>
                </a:solidFill>
              </a:rPr>
              <a:t>Recreation Coordinator Candidate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Who We're Serving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</a:rPr>
              <a:t>Queen Creek Community Profile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34747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944368"/>
            <a:ext cx="34747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45919"/>
            <a:ext cx="3291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C38"/>
                </a:solidFill>
              </a:rPr>
              <a:t>95,338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377439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Residents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59" y="1508760"/>
            <a:ext cx="34747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59" y="2944368"/>
            <a:ext cx="34747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9" y="1645919"/>
            <a:ext cx="3291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C38"/>
                </a:solidFill>
              </a:rPr>
              <a:t>6.2%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9" y="2377439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Annual Growth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1508760"/>
            <a:ext cx="34747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79" y="2944368"/>
            <a:ext cx="34747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19" y="1645919"/>
            <a:ext cx="3291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C38"/>
                </a:solidFill>
              </a:rPr>
              <a:t>$141,978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19" y="2377439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Median HH Income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46120"/>
            <a:ext cx="34747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4681727"/>
            <a:ext cx="34747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383279"/>
            <a:ext cx="3291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C38"/>
                </a:solidFill>
              </a:rPr>
              <a:t>3.41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114800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Avg Household Size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59" y="3246120"/>
            <a:ext cx="34747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59" y="4681727"/>
            <a:ext cx="34747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9" y="3383279"/>
            <a:ext cx="3291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C38"/>
                </a:solidFill>
              </a:rPr>
              <a:t>37 yrs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9" y="4114800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Median 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3246120"/>
            <a:ext cx="34747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26679" y="4681727"/>
            <a:ext cx="347472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3383279"/>
            <a:ext cx="32918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5C38"/>
                </a:solidFill>
              </a:rPr>
              <a:t>90%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19" y="4114800"/>
            <a:ext cx="32918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</a:rPr>
              <a:t>Homeownership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617220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5C38"/>
                </a:solidFill>
              </a:rPr>
              <a:t>★  Town Vision: "Convenience of the city, comfort of the country"  |  FY2026 Priority: Quality of Lifestyle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Spring Into QC — Current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</a:rPr>
              <a:t>Frontier Family Park  |  9:00 AM – 1:00 PM  |  Annual March Event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577840" cy="38404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72184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What the Event Offers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856232"/>
            <a:ext cx="5394959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Egg Hunts — free, by age group, 9:30 AM through 12:30 PM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Fast &amp; Furriest Animal Races — chicks, bunnies &amp; tortoises, starting 10 AM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5 race heats with bracket rounds (Tortoise &amp; the Hare, Fan Favorite)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Play Zone — inflatables, bungee run, obstacle course, mega slides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Tot Spot — dedicated area for ages 5 and under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The Great EggScape — interactive story walk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Color Blast — splatter paint experience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Vendors &amp; community partners throughout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417320"/>
            <a:ext cx="5806440" cy="384048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72184"/>
            <a:ext cx="5623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856232"/>
            <a:ext cx="5623559" cy="4553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3,500+ attendees at the most recent Spring Into QC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Families arrive with one goal: the egg hunt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Once their age group's hunt ends — the visit feels complete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No clear signal about what comes next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Families exit before experiencing vendors, races, or other attractions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Revenue and engagement opportunities go unrealized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Event elements are strong individually — but not connected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the Research Revealed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</a:rPr>
              <a:t>Confirmed Facts · Identified Gaps · Basis for Recommendation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5C38"/>
                </a:solidFill>
              </a:rPr>
              <a:t>Spring Into QC is a well-built event with strong programming. The gaps are operational — not programmatic.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76272"/>
            <a:ext cx="3657600" cy="347472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22037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</a:rPr>
              <a:t>FINDING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23744"/>
            <a:ext cx="3657600" cy="457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</a:rPr>
              <a:t>The Raffle Loop Is Broken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80944"/>
            <a:ext cx="365760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34290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>• Raffle tickets are given to attendees who correctly pick animal race winners</a:t>
            </a:r>
          </a:p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>• Five race heats run from 10 AM onward — tickets accumulate throughout the morning</a:t>
            </a:r>
          </a:p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>• No publicly announced Grand Prize Drawing tied to those tickets</a:t>
            </a:r>
          </a:p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>• Result: Tickets feel like trinkets, not incentives to stay</a:t>
            </a:r>
          </a:p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000" i="1" b="0">
                <a:solidFill>
                  <a:srgbClr val="555555"/>
                </a:solidFill>
              </a:rPr>
              <a:t>Source: Official event descriptions, Queen Creek Parks &amp; Recreation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78807" y="2176272"/>
            <a:ext cx="3657600" cy="347472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22037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</a:rPr>
              <a:t>FINDING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78807" y="2523744"/>
            <a:ext cx="3657600" cy="457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</a:rPr>
              <a:t>Activities Run in Silos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8807" y="2980944"/>
            <a:ext cx="365760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3090672"/>
            <a:ext cx="34290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>• Egg hunts, animal races, Play Zone, Great EggScape, Color Blast all exist independently</a:t>
            </a:r>
          </a:p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>• No event-wide narrative or flow connecting them</a:t>
            </a:r>
          </a:p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>• Families who finish one activity face an unstructured decision: what next?</a:t>
            </a:r>
          </a:p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>• Without a clear path forward, the default is to leave</a:t>
            </a:r>
          </a:p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000" i="1" b="0">
                <a:solidFill>
                  <a:srgbClr val="555555"/>
                </a:solidFill>
              </a:rPr>
              <a:t>Source: Queen Creek Independent, Chamber of Commerce event listings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5" y="2176272"/>
            <a:ext cx="3657600" cy="347472"/>
          </a:xfrm>
          <a:prstGeom prst="rect">
            <a:avLst/>
          </a:prstGeom>
          <a:solidFill>
            <a:srgbClr val="5D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7303" y="22037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</a:rPr>
              <a:t>FINDING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37575" y="2523744"/>
            <a:ext cx="3657600" cy="4572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7303" y="25603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</a:rPr>
              <a:t>The Post-Hunt Moment Is Unclaimed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5" y="2980944"/>
            <a:ext cx="365760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3090672"/>
            <a:ext cx="34290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>• Egg hunts run 9:30 AM – 12:30 PM, staggered by age group (already well-structured)</a:t>
            </a:r>
          </a:p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>• The departure problem isn't mass exodus — it's per-wave drift after each group finishes</a:t>
            </a:r>
          </a:p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>• The 30 seconds after a family's hunt ends is the critical decision window</a:t>
            </a:r>
          </a:p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>• Currently: no staff, no signage, no programming targeting that exact moment</a:t>
            </a:r>
          </a:p>
          <a:p>
            <a:pPr>
              <a:spcAft>
                <a:spcPts val="500"/>
              </a:spcAft>
            </a:pPr>
            <a:r>
              <a:rPr sz="1100" i="0" b="0">
                <a:solidFill>
                  <a:srgbClr val="2B2B2B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000" i="1" b="0">
                <a:solidFill>
                  <a:srgbClr val="555555"/>
                </a:solidFill>
              </a:rPr>
              <a:t>Source: Event schedule analysis, Town problem statement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92240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C38"/>
                </a:solidFill>
              </a:rPr>
              <a:t>All three findings point to the same conclusion: the event elements are strong — the connections between them are missing.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</a:rPr>
              <a:t>What Was Confirmed vs. What Was Assumed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486400" cy="41148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2120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CONFIRMED  —  From Public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828800"/>
            <a:ext cx="54864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38"/>
                </a:solidFill>
              </a:rPr>
              <a:t>Event Basics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3852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Annual March event · Frontier Family Park · 9 AM – 1 PM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86000"/>
            <a:ext cx="530352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2257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38"/>
                </a:solidFill>
              </a:rPr>
              <a:t>Egg Hunt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32257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Age-group hunts staggered 9:30 AM – 12:30 PM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70048"/>
            <a:ext cx="530352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066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38"/>
                </a:solidFill>
              </a:rPr>
              <a:t>Animal Races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70662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Fast &amp; Furriest · chicks, bunnies, tortoises · 5 heats from 10 AM · raffle ticket mechanic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054096"/>
            <a:ext cx="530352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9067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38"/>
                </a:solidFill>
              </a:rPr>
              <a:t>Other Activities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09067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Play Zone, Tot Spot, The Great EggScape, Color Blast · all free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438144"/>
            <a:ext cx="530352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38"/>
                </a:solidFill>
              </a:rPr>
              <a:t>Attendance &amp; Vendors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347472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3,500+ attendees · vendor booths 10'x10' · fees $75–$125 per booth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3822191"/>
            <a:ext cx="530352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5876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38"/>
                </a:solidFill>
              </a:rPr>
              <a:t>Community Demographics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85876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~95K residents · 6.2% annual growth · $141,978 median HH income · avg HH size ~3.4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206240"/>
            <a:ext cx="530352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4281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38"/>
                </a:solidFill>
              </a:rPr>
              <a:t>Town Strategic Vision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4242816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"Convenience of the city, comfort of the country" · FY26 priority: Quality of Lifestyle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590288"/>
            <a:ext cx="530352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6268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38"/>
                </a:solidFill>
              </a:rPr>
              <a:t>Town Survey Precedent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62686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Town already runs resident surveys via QR code / online link (2025 Citizen Survey)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974336"/>
            <a:ext cx="530352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0109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C38"/>
                </a:solidFill>
              </a:rPr>
              <a:t>Vendor/Sponsor 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501091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Erica Perez · Erica.Perez@QueenCreek.org · 480-358-3719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358383"/>
            <a:ext cx="530352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80760" y="1417320"/>
            <a:ext cx="5806440" cy="41148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1463040"/>
            <a:ext cx="5532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ASSUMED  —  Flagged Per Brief Instructions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1828800"/>
            <a:ext cx="580644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193852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3A2E"/>
                </a:solidFill>
              </a:rPr>
              <a:t>Early Departure 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193852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Accepted as described in Town problem statement; no exit count data available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2304288"/>
            <a:ext cx="557784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235915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3A2E"/>
                </a:solidFill>
              </a:rPr>
              <a:t>Vendor Revenue Impact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2359152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Assumed lower sales correlate with early departures; no revenue figures confirmed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2724912"/>
            <a:ext cx="557784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277977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3A2E"/>
                </a:solidFill>
              </a:rPr>
              <a:t>Raffle Prize Drawing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2779776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No announced drawing confirmed; assumed based on absence in all event descriptions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3145536"/>
            <a:ext cx="557784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320040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3A2E"/>
                </a:solidFill>
              </a:rPr>
              <a:t>Staffing Model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20040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Redeployment feasibility assumed; actual staffing levels not publicly available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566160"/>
            <a:ext cx="557784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3621024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3A2E"/>
                </a:solidFill>
              </a:rPr>
              <a:t>Sponsor Interest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3621024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Local business appetite for prize sponsorship assumed based on comparable programs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3986784"/>
            <a:ext cx="557784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0" y="40416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3A2E"/>
                </a:solidFill>
              </a:rPr>
              <a:t>Dwell Time Baseline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4041648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</a:rPr>
              <a:t>No existing measurement; proposed as Year 1 metric to establish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4407408"/>
            <a:ext cx="5577840" cy="18288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0040" y="5925312"/>
            <a:ext cx="11521440" cy="402336"/>
          </a:xfrm>
          <a:prstGeom prst="rect">
            <a:avLst/>
          </a:prstGeom>
          <a:solidFill>
            <a:srgbClr val="FDF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5971032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1">
                <a:solidFill>
                  <a:srgbClr val="7A5500"/>
                </a:solidFill>
              </a:rPr>
              <a:t>THE DATA GAP: We don't yet know the specific reasons families leave early. Beyond this proposal, a natural next step is a formalized feedback mechanism — built on the QR/online survey method the Town already uses for resident surveys.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6382512"/>
            <a:ext cx="1152144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A5C38"/>
                </a:solidFill>
              </a:rPr>
              <a:t>Sources: queencreekaz.gov/springintoQC  ·  Queen Creek Independent  ·  Queen Creek Chamber of Commerce  ·  Hoodline (2025)  ·  worldpopulationreview.com  ·  datausa.io  ·  census.gov/quickfacts  ·  queencreekaz.gov/government (Strategic Plan)  ·  queencreekaz.gov/FrontierFamilyPark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</a:rPr>
              <a:t>Two Connected Pillars — Low Cost, High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521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5C38"/>
                </a:solidFill>
              </a:rPr>
              <a:t>Spring Into QC already has the right ingredients. The opportunity is connecting them so families experience the full event — not just the egg hunt.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86000"/>
            <a:ext cx="5486400" cy="36576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</a:rPr>
              <a:t>PILLAR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548640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88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</a:rPr>
              <a:t>Redesign the Journey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Restructure the site into one guided circular path — controlled entrances, a central egg hunt, and vendors and races woven directly into the route.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79" y="2286000"/>
            <a:ext cx="5486400" cy="365760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017"/>
                </a:solidFill>
              </a:rPr>
              <a:t>PILLAR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2651760"/>
            <a:ext cx="5486400" cy="3566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88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</a:rPr>
              <a:t>Gamify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3756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Expand the existing raffle into a layered incentive system: an early-announced grand prize, a combined punch/bingo card, and hidden golden eggs.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4008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C38"/>
                </a:solidFill>
              </a:rPr>
              <a:t>Pillar 1 gets families moving through the whole site. Pillar 2 gives them a reason to keep moving.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Recommendation — Pillar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</a:rPr>
              <a:t>Event Layout &amp; Participant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5C38"/>
                </a:solidFill>
              </a:rPr>
              <a:t>Restructure the site as a guided loop, not a series of disconnected stops — every family's path leads past every vendor and attraction before the exit.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03120"/>
            <a:ext cx="1706879" cy="12344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" y="2194560"/>
            <a:ext cx="1615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ENTRANCE A /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59" y="2633472"/>
            <a:ext cx="1615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4F4F4"/>
                </a:solidFill>
              </a:rPr>
              <a:t>Controlled entry — safety &amp;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8631" y="2450591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2952" y="2103120"/>
            <a:ext cx="1706879" cy="12344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28672" y="2194560"/>
            <a:ext cx="1615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GREAT EGG WALK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8672" y="2633472"/>
            <a:ext cx="1615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4F4F4"/>
                </a:solidFill>
              </a:rPr>
              <a:t>Story-walk kicks off the journey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1544" y="2450591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5863" y="2103120"/>
            <a:ext cx="1706879" cy="12344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1583" y="2194560"/>
            <a:ext cx="1615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VENDOR ROW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1583" y="2633472"/>
            <a:ext cx="1615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4F4F4"/>
                </a:solidFill>
              </a:rPr>
              <a:t>Primary vendor &amp; partner area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5" y="2450591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5" y="2103120"/>
            <a:ext cx="1706879" cy="12344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5" y="2194560"/>
            <a:ext cx="1615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CENTRAL EGG HUNT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5" y="2633472"/>
            <a:ext cx="1615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4F4F4"/>
                </a:solidFill>
              </a:rPr>
              <a:t>Anchors the site at the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7368" y="2450591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1687" y="2103120"/>
            <a:ext cx="1706879" cy="12344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7408" y="2194560"/>
            <a:ext cx="1615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ANIMAL RACES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7408" y="2633472"/>
            <a:ext cx="1615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4F4F4"/>
                </a:solidFill>
              </a:rPr>
              <a:t>Flows directly from the hunt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0280" y="2450591"/>
            <a:ext cx="292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4A017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34599" y="2103120"/>
            <a:ext cx="1706879" cy="12344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80320" y="2194560"/>
            <a:ext cx="1615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PERIPHERY 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320" y="2633472"/>
            <a:ext cx="16154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4F4F4"/>
                </a:solidFill>
              </a:rPr>
              <a:t>Play Zone, Tot Spot, Color Blast — loop to exit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611880"/>
            <a:ext cx="5577840" cy="38404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666744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Design Principles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4050791"/>
            <a:ext cx="5394959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Central Egg Hunt anchors the site — everything else radiates from it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Entrance A &amp; B control traffic flow and improve child safety / headcount accountability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Great Egg Walk sets the tone and starts every family on the same guided path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Periphery attractions (bouncy houses, Tot Spot) sit along the return route — not off to the side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611880"/>
            <a:ext cx="5806440" cy="384048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666744"/>
            <a:ext cx="56235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Why It Works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050791"/>
            <a:ext cx="5623559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Directly solves Finding 2 — activities stop being silos and become one connected path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Families physically pass every vendor and attraction before reaching the exit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No new attractions needed — this is a resequencing of the existing footprint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Sets up Pillar 2: the punch/bingo card gives families a reason to complete the loop, not just walk 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Recommendation — Pillar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</a:rPr>
              <a:t>Gamification &amp; Retention Incentives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5C38"/>
                </a:solidFill>
              </a:rPr>
              <a:t>The raffle ticket mechanic already exists. We expand it into a layered system that rewards families for completing the full journey — not just picking a race winner.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03120"/>
            <a:ext cx="5577840" cy="38404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57984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Grand Prize Drawing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542032"/>
            <a:ext cx="5394959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Announced at event open (9 AM) — families know upfront it's worth staying for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High-value prize sourced via local business sponsorship — zero cost to Town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Drawing held at 12:15 PM from main stage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Anchors the whole incentive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2103120"/>
            <a:ext cx="5577840" cy="38404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157984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Punch + Bingo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199" y="2542032"/>
            <a:ext cx="5394959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One combined card, handed out at Entrance A / B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Punches for periphery attractions (Play Zone, Tot Spot, Color Blast)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Bingo squares for vendor &amp; Town partner interactions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Completed card = bonus raffle ticket at the drawing 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206240"/>
            <a:ext cx="5577840" cy="384048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61103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Hidden Golden Eggs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4645152"/>
            <a:ext cx="5394959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Limited golden eggs hidden across the full venue footprint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Separate from the timed age-group hunts — findable all morning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Each egg redeems for bonus raffle tickets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Pulls families into every corner of the site, not just the center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4206240"/>
            <a:ext cx="5577840" cy="384048"/>
          </a:xfrm>
          <a:prstGeom prst="rect">
            <a:avLst/>
          </a:prstGeom>
          <a:solidFill>
            <a:srgbClr val="5D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261103"/>
            <a:ext cx="53949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Race Winning Mechanic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4645152"/>
            <a:ext cx="5394959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Existing mechanic: correct race picks earn raffle tickets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Add a bracket-champion bonus tied to the Grand Prize pool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Reinforces the raffle as the event's central storyline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No new operational lift — enhancement to what's already running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3550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C38"/>
                </a:solidFill>
              </a:rPr>
              <a:t>Together, these four layers turn a single raffle mechanic into an event-wide incentive to explore, participate, and stay through the Grand Prize Drawing.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Operational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</a:rPr>
              <a:t>Pre-Event Through Day-Of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2200046" cy="438912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508760"/>
            <a:ext cx="2090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 Weeks 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01952"/>
            <a:ext cx="2200046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975104"/>
            <a:ext cx="205374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Confirm Grand Prize Drawing format &amp; timing (12:15 PM)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Recruit local business sponsor for prize package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Finalize circular site layout (entrances, vendor row, hunt, loop)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Design punch + bingo card artwork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Brief vendor team on updated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7246" y="1463040"/>
            <a:ext cx="2200046" cy="438912"/>
          </a:xfrm>
          <a:prstGeom prst="rect">
            <a:avLst/>
          </a:prstGeom>
          <a:solidFill>
            <a:srgbClr val="3E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0398" y="1508760"/>
            <a:ext cx="2090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 Weeks 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7246" y="1901952"/>
            <a:ext cx="2200046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8686" y="1975104"/>
            <a:ext cx="205374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Launch event promotion (social + newsletter)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Announce participating vendors &amp; what they're offering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Tease the Grand Prize — build anticipation, don't reveal it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Highlight new layout, races &amp; golden eggs in messaging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Ask vendors to cross-promote on their own channels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4452" y="1463040"/>
            <a:ext cx="2200046" cy="438912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7604" y="1508760"/>
            <a:ext cx="2090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 Weeks 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4452" y="1901952"/>
            <a:ext cx="2200046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5892" y="1975104"/>
            <a:ext cx="205374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Finalize prize package (rec memberships, dining, local experiences)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Print punch/bingo cards &amp; golden egg tokens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Confirm staff assignments &amp; golden-egg hide plan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Distribute updated site map to vendors &amp; partners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Prep race announcement script for emcee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1659" y="1463040"/>
            <a:ext cx="2200046" cy="438912"/>
          </a:xfrm>
          <a:prstGeom prst="rect">
            <a:avLst/>
          </a:prstGeom>
          <a:solidFill>
            <a:srgbClr val="1A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4811" y="1508760"/>
            <a:ext cx="2090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 Of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1659" y="1901952"/>
            <a:ext cx="2200046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3099" y="1975104"/>
            <a:ext cx="205374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Hunt staff briefed on handoff protocol at check-in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Entrance staff distribute cards; hide golden eggs before gates open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Directional signs posted at exits &amp; periphery loop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Emcee announces race schedule &amp; prize drawing at open (9 AM)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Grand Prize Drawing announced at 12:15 PM from main stage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68865" y="1463040"/>
            <a:ext cx="2200046" cy="438912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42017" y="1508760"/>
            <a:ext cx="20903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Post-Event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68865" y="1901952"/>
            <a:ext cx="2200046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0305" y="1975104"/>
            <a:ext cx="205374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Vendor satisfaction survey (5 Q's, emailed within 48 hrs)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Staff debrief — what worked, what didn't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Document raffle &amp; card submission rate as retention proxy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Present findings to leadership for next year's planning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B2B2B"/>
                </a:solidFill>
              </a:rPr>
              <a:t>• Future idea: explore a family feedback loop next season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Staffing &amp;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822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A017"/>
                </a:solidFill>
              </a:rPr>
              <a:t>Minimal New Investment — Maximum Leverage of Existing Resources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486400" cy="38404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Staffing — Redeployment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01952"/>
            <a:ext cx="530352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No new hires required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Hunt staff transition to handoff roles as each age group finishes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Entrance staff distribute punch/bingo cards at check-in (existing role)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2 staff pre-hide golden eggs before gates open (~30 min task)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Emcee folds race schedule &amp; prize drawing into existing script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Event supervisor oversees layout flow, card system &amp; handoff timing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2B2B2B"/>
                </a:solidFill>
              </a:rPr>
              <a:t>• Assumption: current staffing levels cover expanded entrance &amp; hunt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463040"/>
            <a:ext cx="58978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463040"/>
            <a:ext cx="5897880" cy="384048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5087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Budget — Enhancement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965960"/>
            <a:ext cx="5897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0208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</a:rPr>
              <a:t>Directional signage (6–8 signs, entrances &amp; loop)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20208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</a:rPr>
              <a:t>$150 – $350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313432"/>
            <a:ext cx="589788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36829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</a:rPr>
              <a:t>Punch + bingo cards (printed, ~500 qty)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3682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</a:rPr>
              <a:t>$80 – $150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660904"/>
            <a:ext cx="5897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715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</a:rPr>
              <a:t>Golden egg tokens (bulk + bonus ticket inserts)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</a:rPr>
              <a:t>$40 – $75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3008376"/>
            <a:ext cx="589788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063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</a:rPr>
              <a:t>Prize package — sponsor-funded (assumption)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</a:rPr>
              <a:t>$0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355848"/>
            <a:ext cx="58978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4107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</a:rPr>
              <a:t>Emcee script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4107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</a:rPr>
              <a:t>$0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703320"/>
            <a:ext cx="5897880" cy="347472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758183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2B2B"/>
                </a:solidFill>
              </a:rPr>
              <a:t>Staff overtime (if applicable)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375818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2B2B2B"/>
                </a:solidFill>
              </a:rPr>
              <a:t>$0 – $420*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4050791"/>
            <a:ext cx="5897880" cy="34747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4105655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C38"/>
                </a:solidFill>
              </a:rPr>
              <a:t>TOTAL ESTIMATED COST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410565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5C38"/>
                </a:solidFill>
              </a:rPr>
              <a:t>$270 – $995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452628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* Hunt staff transitioning to handoff roles = no additional hours if within scheduled shift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715000"/>
            <a:ext cx="11521440" cy="7772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77900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5C38"/>
                </a:solidFill>
              </a:rPr>
              <a:t>Revenue Opportunity: Sponsor branding across the prize package, signage, and punch/bingo cards valued at $500–$2,000. Enhancement is potentially cost-neutral or better.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88952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88952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Final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A017"/>
                </a:solidFill>
              </a:rPr>
              <a:t>Implement two targeted, connected enhancements for Spring Into QC 2027: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40280"/>
            <a:ext cx="5577840" cy="2834640"/>
          </a:xfrm>
          <a:prstGeom prst="rect">
            <a:avLst/>
          </a:prstGeom>
          <a:solidFill>
            <a:srgbClr val="22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01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957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Redesign the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4F4"/>
                </a:solidFill>
              </a:rPr>
              <a:t>Restructure the site into a guided circular path — controlled entrances, a central egg hunt, and periphery attractions on the return route — so every family passes every vendor and activity before the exit.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240280"/>
            <a:ext cx="5577840" cy="2834640"/>
          </a:xfrm>
          <a:prstGeom prst="rect">
            <a:avLst/>
          </a:prstGeom>
          <a:solidFill>
            <a:srgbClr val="22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3317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A017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3957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Gamify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926080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F4F4"/>
                </a:solidFill>
              </a:rPr>
              <a:t>Expand the existing raffle into a layered system: an early-announced Grand Prize Drawing, a combined punch/bingo card, hidden golden eggs, and a race bracket bonus — all built on what's already running.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749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D4A017"/>
                </a:solidFill>
              </a:rPr>
              <a:t>Looking ahead: a formalized family feedback loop is a natural next step for future seasons.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94960"/>
            <a:ext cx="11430000" cy="73152"/>
          </a:xfrm>
          <a:prstGeom prst="rect">
            <a:avLst/>
          </a:prstGeom>
          <a:solidFill>
            <a:srgbClr val="226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557784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017"/>
                </a:solidFill>
              </a:rPr>
              <a:t>SUCCESS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5595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Dwell time
(target: +45 min)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55595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Card completion &amp;
raffle submission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5595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Vendor satisfaction
survey scores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55595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Sponsor revenue
generated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